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0" r:id="rId1"/>
    <p:sldMasterId id="2147483671" r:id="rId2"/>
  </p:sldMasterIdLst>
  <p:notesMasterIdLst>
    <p:notesMasterId r:id="rId7"/>
  </p:notesMasterIdLst>
  <p:sldIdLst>
    <p:sldId id="277" r:id="rId3"/>
    <p:sldId id="279" r:id="rId4"/>
    <p:sldId id="280" r:id="rId5"/>
    <p:sldId id="281" r:id="rId6"/>
  </p:sldIdLst>
  <p:sldSz cx="12192000" cy="6858000"/>
  <p:notesSz cx="9866313" cy="14295438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C2AFC39-9312-4BDD-B99D-2AEC6354EE5F}">
  <a:tblStyle styleId="{CC2AFC39-9312-4BDD-B99D-2AEC6354EE5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A327CB27-3F5C-4547-81DB-43A206F6D8C2}" styleName="Table_1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0F0F0"/>
          </a:solidFill>
        </a:fill>
      </a:tcStyle>
    </a:wholeTbl>
    <a:band1H>
      <a:tcTxStyle/>
      <a:tcStyle>
        <a:tcBdr/>
        <a:fill>
          <a:solidFill>
            <a:srgbClr val="E0E0E0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0E0E0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3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3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243" y="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1"/>
            <a:ext cx="4275403" cy="717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1900" tIns="65950" rIns="131900" bIns="6595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588628" y="1"/>
            <a:ext cx="4275403" cy="717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1900" tIns="65950" rIns="131900" bIns="6595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44525" y="1787525"/>
            <a:ext cx="8577263" cy="48244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86632" y="6879680"/>
            <a:ext cx="7893050" cy="5628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1900" tIns="65950" rIns="131900" bIns="6595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13578186"/>
            <a:ext cx="4275403" cy="717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1900" tIns="65950" rIns="131900" bIns="6595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588628" y="13578186"/>
            <a:ext cx="4275403" cy="717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1900" tIns="65950" rIns="131900" bIns="6595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 sz="17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7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g3f5548679a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44525" y="1787525"/>
            <a:ext cx="8575675" cy="48244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4" name="Google Shape;844;g3f5548679a2_0_0:notes"/>
          <p:cNvSpPr txBox="1">
            <a:spLocks noGrp="1"/>
          </p:cNvSpPr>
          <p:nvPr>
            <p:ph type="body" idx="1"/>
          </p:nvPr>
        </p:nvSpPr>
        <p:spPr>
          <a:xfrm>
            <a:off x="986630" y="6879673"/>
            <a:ext cx="7893000" cy="5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5325" tIns="67650" rIns="135325" bIns="67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100" b="1"/>
              <a:t>&lt;AI·디지털 도구 활용 단원 교수·학습 설계안 작성 방법&gt;</a:t>
            </a:r>
            <a:endParaRPr sz="2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100" b="1"/>
              <a:t>(개요)</a:t>
            </a:r>
            <a:r>
              <a:rPr lang="ko-KR" sz="2100"/>
              <a:t> 단원 수준에서 수업에 대한 기본 정보를 작성</a:t>
            </a:r>
            <a:endParaRPr sz="2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100"/>
              <a:t> - 핵심 아이디어, 성취기준: 2022 개정 교육과정의 해당 단원 내용을 작성</a:t>
            </a:r>
            <a:endParaRPr sz="2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100"/>
              <a:t> - 탐구 질문: 단원 전체를 관통하는 핵심 질문을 작성</a:t>
            </a:r>
            <a:endParaRPr sz="2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100"/>
              <a:t> - 단원 재구성 의도: 교사의 수업관 및 교과와 학생 측면의 단원 설계의 의도를 작성</a:t>
            </a:r>
            <a:endParaRPr sz="2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100"/>
              <a:t> - 학생 및 과제 분석: 학생의 선행 지식, 수준, 관심을 분석하고 이를 고려한 과제 분석에 대한 내용을 작성</a:t>
            </a:r>
            <a:endParaRPr sz="2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100"/>
              <a:t> - AI·디지털 도구: 단원에서 활용할 도구를 적고, 선택한 교육적 이유를 수업 의도와 연계하여 드러냄</a:t>
            </a:r>
            <a:endParaRPr sz="2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100" b="1"/>
              <a:t>(과정 중심 평가) </a:t>
            </a:r>
            <a:r>
              <a:rPr lang="ko-KR" sz="2100"/>
              <a:t>평가요소를 중심으로 심화·기본·기초 수준별 피드백과 평가도구(방법)를 작성 (진단, 학습, 평가, 피드백, 성찰의 흐름 속에서 AI·디지털 기능을 어디에 배치할지 의도적으로 선택 가능)</a:t>
            </a:r>
            <a:endParaRPr sz="2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100" b="1"/>
              <a:t>(AI·디지털 도구 활용 유의사항)</a:t>
            </a:r>
            <a:r>
              <a:rPr lang="ko-KR" sz="2100"/>
              <a:t> 개인정보 보호, 저작권, 정보 신뢰성 등 수업에서 AI·디지털 도구 활용 시 유의할 사항을 작성</a:t>
            </a:r>
            <a:endParaRPr sz="2100"/>
          </a:p>
        </p:txBody>
      </p:sp>
      <p:sp>
        <p:nvSpPr>
          <p:cNvPr id="845" name="Google Shape;845;g3f5548679a2_0_0:notes"/>
          <p:cNvSpPr txBox="1">
            <a:spLocks noGrp="1"/>
          </p:cNvSpPr>
          <p:nvPr>
            <p:ph type="sldNum" idx="12"/>
          </p:nvPr>
        </p:nvSpPr>
        <p:spPr>
          <a:xfrm>
            <a:off x="5588620" y="13578173"/>
            <a:ext cx="4275300" cy="7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5325" tIns="67650" rIns="135325" bIns="6765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 sz="2100"/>
              <a:t>1</a:t>
            </a:fld>
            <a:endParaRPr sz="21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g3f5548679a2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44525" y="1787525"/>
            <a:ext cx="8575675" cy="48244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6" name="Google Shape;866;g3f5548679a2_0_16:notes"/>
          <p:cNvSpPr txBox="1">
            <a:spLocks noGrp="1"/>
          </p:cNvSpPr>
          <p:nvPr>
            <p:ph type="body" idx="1"/>
          </p:nvPr>
        </p:nvSpPr>
        <p:spPr>
          <a:xfrm>
            <a:off x="986630" y="6879673"/>
            <a:ext cx="7893000" cy="5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5325" tIns="67650" rIns="135325" bIns="67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100" b="1"/>
              <a:t>&lt;단원 교수·학습 설계 작성 방법&gt;</a:t>
            </a:r>
            <a:endParaRPr sz="2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100" b="1"/>
              <a:t>(세로축) </a:t>
            </a:r>
            <a:r>
              <a:rPr lang="ko-KR" sz="2100"/>
              <a:t>2022 개정 교육과정이 강조하는 학생 주도성을 탐구 유형으로 나누어 배치 (구조화된 탐구, 안내된 탐구, 개방형 탐구로 갈수록 학생 주도성이 커지며, 각 차시 상자를 해당 높이에 두어 단원 안에서 주도성이 점차 확대되는 흐름을 보여줄 수 있음)</a:t>
            </a:r>
            <a:endParaRPr sz="2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100" b="1"/>
              <a:t>(가로축) </a:t>
            </a:r>
            <a:r>
              <a:rPr lang="ko-KR" sz="2100"/>
              <a:t>시간을 나타내며, 단원 단위로 차시의 순서와 흐름을 배치</a:t>
            </a:r>
            <a:endParaRPr sz="2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100" b="1"/>
              <a:t>(차시 상자) </a:t>
            </a:r>
            <a:r>
              <a:rPr lang="ko-KR" sz="2100"/>
              <a:t>상자마다 차시 주제, 활동명, 세부 활동 내용을 작성</a:t>
            </a:r>
            <a:endParaRPr sz="21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r>
              <a:rPr lang="ko-KR" sz="2100" b="1"/>
              <a:t>(도구, 역할) </a:t>
            </a:r>
            <a:r>
              <a:rPr lang="ko-KR" sz="2100"/>
              <a:t>각 상자 아래에 해당 단계에서 활용하는 AI·디지털 도구와 역할을 작성 (AI·디지털 도구를 특정 활동에서 사용하지 않는 것도 교사의 의도적 선택임)</a:t>
            </a:r>
            <a:endParaRPr sz="2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/>
          </a:p>
        </p:txBody>
      </p:sp>
      <p:sp>
        <p:nvSpPr>
          <p:cNvPr id="867" name="Google Shape;867;g3f5548679a2_0_16:notes"/>
          <p:cNvSpPr txBox="1">
            <a:spLocks noGrp="1"/>
          </p:cNvSpPr>
          <p:nvPr>
            <p:ph type="sldNum" idx="12"/>
          </p:nvPr>
        </p:nvSpPr>
        <p:spPr>
          <a:xfrm>
            <a:off x="5588620" y="13578173"/>
            <a:ext cx="4275300" cy="7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5325" tIns="67650" rIns="135325" bIns="6765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 sz="2100"/>
              <a:t>2</a:t>
            </a:fld>
            <a:endParaRPr sz="21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g3f5548679a2_97_0:notes"/>
          <p:cNvSpPr txBox="1">
            <a:spLocks noGrp="1"/>
          </p:cNvSpPr>
          <p:nvPr>
            <p:ph type="body" idx="1"/>
          </p:nvPr>
        </p:nvSpPr>
        <p:spPr>
          <a:xfrm>
            <a:off x="986630" y="6879673"/>
            <a:ext cx="7893000" cy="5628900"/>
          </a:xfrm>
          <a:prstGeom prst="rect">
            <a:avLst/>
          </a:prstGeom>
        </p:spPr>
        <p:txBody>
          <a:bodyPr spcFirstLastPara="1" wrap="square" lIns="135325" tIns="135325" rIns="135325" bIns="135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0" name="Google Shape;920;g3f5548679a2_97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44525" y="1787525"/>
            <a:ext cx="8575675" cy="48244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3f5548679a2_97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44525" y="1787525"/>
            <a:ext cx="8575675" cy="48244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7" name="Google Shape;937;g3f5548679a2_97_15:notes"/>
          <p:cNvSpPr txBox="1">
            <a:spLocks noGrp="1"/>
          </p:cNvSpPr>
          <p:nvPr>
            <p:ph type="body" idx="1"/>
          </p:nvPr>
        </p:nvSpPr>
        <p:spPr>
          <a:xfrm>
            <a:off x="986630" y="6879673"/>
            <a:ext cx="7893000" cy="5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5325" tIns="67650" rIns="135325" bIns="67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100" b="1"/>
              <a:t>&lt;차시 교수·학습 설계 작성 방법(4단계)&gt;</a:t>
            </a:r>
            <a:endParaRPr sz="2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100" b="1"/>
              <a:t>(세로축) </a:t>
            </a:r>
            <a:r>
              <a:rPr lang="ko-KR" sz="2100"/>
              <a:t>2022 개정 교육과정이 강조하는 학생 참여중심 수업을 개별, 모둠, 전체 학습 형태로 나누어 작성함. 각 활동 상자를 해당 학습 형태 높이에 배치</a:t>
            </a:r>
            <a:endParaRPr sz="2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100" b="1"/>
              <a:t>(가로축) </a:t>
            </a:r>
            <a:r>
              <a:rPr lang="ko-KR" sz="2100"/>
              <a:t>시간을 나타내며, 한 시간 단위(~분)로 활동 단계의 순서와 흐름을 계획하여 배치</a:t>
            </a:r>
            <a:endParaRPr sz="2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100" b="1"/>
              <a:t>(활동 상자) </a:t>
            </a:r>
            <a:r>
              <a:rPr lang="ko-KR" sz="2100"/>
              <a:t>단계명(분), 활동제목, 교사 활동, 학생 활동을 작성함. 교사와 학생 활동을 구체화하여 작성</a:t>
            </a:r>
            <a:endParaRPr sz="2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100" b="1"/>
              <a:t>(도구, 역할) </a:t>
            </a:r>
            <a:r>
              <a:rPr lang="ko-KR" sz="2100"/>
              <a:t>각 상자 아래에 해당 단계에서 활용하는 AI·디지털 도구와 역할을 작성 (AI·디지털 도구를 특정 활동에서 사용하지 않는 것도 교사의 의도적 선택임)</a:t>
            </a:r>
            <a:endParaRPr sz="2100"/>
          </a:p>
        </p:txBody>
      </p:sp>
      <p:sp>
        <p:nvSpPr>
          <p:cNvPr id="938" name="Google Shape;938;g3f5548679a2_97_15:notes"/>
          <p:cNvSpPr txBox="1">
            <a:spLocks noGrp="1"/>
          </p:cNvSpPr>
          <p:nvPr>
            <p:ph type="sldNum" idx="12"/>
          </p:nvPr>
        </p:nvSpPr>
        <p:spPr>
          <a:xfrm>
            <a:off x="5588620" y="13578173"/>
            <a:ext cx="4275300" cy="7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5325" tIns="67650" rIns="135325" bIns="6765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 sz="2100"/>
              <a:t>4</a:t>
            </a:fld>
            <a:endParaRPr sz="21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93" name="Google Shape;93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5" name="Google Shape;105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1" name="Google Shape;111;p1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2" name="Google Shape;112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8" name="Google Shape;118;p1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9" name="Google Shape;119;p1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0" name="Google Shape;120;p1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1" name="Google Shape;121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2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36" name="Google Shape;136;p2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37" name="Google Shape;137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2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2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44" name="Google Shape;144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2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0" name="Google Shape;15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2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6" name="Google Shape;15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7" name="Google Shape;847;p46"/>
          <p:cNvGrpSpPr/>
          <p:nvPr/>
        </p:nvGrpSpPr>
        <p:grpSpPr>
          <a:xfrm>
            <a:off x="260060" y="134638"/>
            <a:ext cx="11671761" cy="338700"/>
            <a:chOff x="260060" y="463574"/>
            <a:chExt cx="11671761" cy="338700"/>
          </a:xfrm>
        </p:grpSpPr>
        <p:sp>
          <p:nvSpPr>
            <p:cNvPr id="848" name="Google Shape;848;p46"/>
            <p:cNvSpPr txBox="1"/>
            <p:nvPr/>
          </p:nvSpPr>
          <p:spPr>
            <a:xfrm>
              <a:off x="260060" y="463574"/>
              <a:ext cx="1015200" cy="338700"/>
            </a:xfrm>
            <a:prstGeom prst="rect">
              <a:avLst/>
            </a:prstGeom>
            <a:solidFill>
              <a:srgbClr val="2E75B5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600" b="1" i="0" u="none" strike="noStrike" cap="non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별첨1</a:t>
              </a:r>
              <a:endParaRPr sz="1600" b="1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49" name="Google Shape;849;p46"/>
            <p:cNvSpPr txBox="1"/>
            <p:nvPr/>
          </p:nvSpPr>
          <p:spPr>
            <a:xfrm>
              <a:off x="1434521" y="463574"/>
              <a:ext cx="10497300" cy="3387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600" b="1" i="0" u="none" strike="noStrike" cap="none" dirty="0" err="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AI·디지털</a:t>
              </a:r>
              <a:r>
                <a:rPr lang="ko-KR" sz="1600" b="1" i="0" u="none" strike="noStrike" cap="none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도구 활용 </a:t>
              </a:r>
              <a:r>
                <a:rPr lang="ko-KR" sz="1600" b="1" i="0" u="none" strike="noStrike" cap="none" dirty="0">
                  <a:solidFill>
                    <a:srgbClr val="FF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단원</a:t>
              </a:r>
              <a:r>
                <a:rPr lang="ko-KR" sz="1600" b="1" i="0" u="none" strike="noStrike" cap="none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lang="ko-KR" sz="1600" b="1" i="0" u="none" strike="noStrike" cap="none" dirty="0" err="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교수·학습</a:t>
              </a:r>
              <a:r>
                <a:rPr lang="ko-KR" sz="1600" b="1" i="0" u="none" strike="noStrike" cap="none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lang="ko-KR" sz="1600" b="1" i="0" u="none" strike="noStrike" cap="none" dirty="0" err="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설계안</a:t>
              </a:r>
              <a:r>
                <a:rPr lang="ko-KR" sz="1600" b="1" i="0" u="none" strike="noStrike" cap="none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(양식)</a:t>
              </a:r>
              <a:endParaRPr sz="1600" b="1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aphicFrame>
        <p:nvGraphicFramePr>
          <p:cNvPr id="850" name="Google Shape;850;p46"/>
          <p:cNvGraphicFramePr/>
          <p:nvPr>
            <p:extLst>
              <p:ext uri="{D42A27DB-BD31-4B8C-83A1-F6EECF244321}">
                <p14:modId xmlns:p14="http://schemas.microsoft.com/office/powerpoint/2010/main" val="3736040886"/>
              </p:ext>
            </p:extLst>
          </p:nvPr>
        </p:nvGraphicFramePr>
        <p:xfrm>
          <a:off x="248911" y="1226852"/>
          <a:ext cx="11694175" cy="2563880"/>
        </p:xfrm>
        <a:graphic>
          <a:graphicData uri="http://schemas.openxmlformats.org/drawingml/2006/table">
            <a:tbl>
              <a:tblPr firstRow="1" bandRow="1">
                <a:noFill/>
                <a:tableStyleId>{CC2AFC39-9312-4BDD-B99D-2AEC6354EE5F}</a:tableStyleId>
              </a:tblPr>
              <a:tblGrid>
                <a:gridCol w="843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1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08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1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43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67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048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7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1" u="none" strike="noStrike" cap="none" dirty="0" err="1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학교급</a:t>
                      </a:r>
                      <a:r>
                        <a:rPr lang="en-US" altLang="ko-KR" sz="11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r>
                        <a:rPr lang="ko-KR" sz="11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학년-학기</a:t>
                      </a:r>
                      <a:endParaRPr sz="1100" dirty="0"/>
                    </a:p>
                  </a:txBody>
                  <a:tcPr marL="0" marR="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A9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수학</a:t>
                      </a:r>
                      <a:endParaRPr sz="11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000" marR="90000" marT="45725" marB="45725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단원</a:t>
                      </a:r>
                      <a:endParaRPr sz="1100" dirty="0"/>
                    </a:p>
                  </a:txBody>
                  <a:tcPr marL="0" marR="0" marT="45725" marB="45725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A9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ko-KR" altLang="en-US" sz="11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통계 </a:t>
                      </a:r>
                      <a:r>
                        <a:rPr lang="en-US" altLang="ko-KR" sz="11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– </a:t>
                      </a:r>
                      <a:r>
                        <a:rPr lang="ko-KR" altLang="en-US" sz="11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통계적 추정</a:t>
                      </a:r>
                      <a:endParaRPr sz="11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000" marR="90000" marT="45725" marB="45725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대상</a:t>
                      </a:r>
                      <a:endParaRPr sz="1100" dirty="0"/>
                    </a:p>
                  </a:txBody>
                  <a:tcPr marL="0" marR="0" marT="45725" marB="45725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A9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ko-KR" altLang="en-US" sz="11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고등학교 </a:t>
                      </a:r>
                      <a:r>
                        <a:rPr lang="en-US" altLang="ko-KR" sz="11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r>
                        <a:rPr lang="ko-KR" altLang="en-US" sz="11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학년</a:t>
                      </a:r>
                      <a:endParaRPr sz="11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000" marR="90000" marT="45725" marB="45725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지도교사</a:t>
                      </a:r>
                      <a:endParaRPr sz="1100" dirty="0"/>
                    </a:p>
                  </a:txBody>
                  <a:tcPr marL="0" marR="0" marT="45725" marB="45725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A9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1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지연호</a:t>
                      </a:r>
                      <a:endParaRPr sz="1100" b="1" u="none" strike="noStrike" cap="none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000" marR="90000" marT="45725" marB="45725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62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핵심</a:t>
                      </a:r>
                      <a:endParaRPr sz="1100" b="1" u="none" strike="noStrike" cap="none" dirty="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아이디어</a:t>
                      </a:r>
                      <a:endParaRPr sz="1100" dirty="0"/>
                    </a:p>
                  </a:txBody>
                  <a:tcPr marL="0" marR="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A9F4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통계적 추정은 표본의 정보를 바탕으로 모집단의 특성을 추론하며</a:t>
                      </a: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, </a:t>
                      </a: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불확실한 상황에서 합리적인 의사결정을 돕는다</a:t>
                      </a: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.</a:t>
                      </a:r>
                      <a:endParaRPr sz="1100" b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000" marR="90000" marT="45725" marB="45725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 u="none" strike="noStrike" cap="non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성취기준</a:t>
                      </a:r>
                      <a:endParaRPr sz="1100"/>
                    </a:p>
                  </a:txBody>
                  <a:tcPr marL="0" marR="0" marT="45725" marB="45725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A9F4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[12</a:t>
                      </a:r>
                      <a:r>
                        <a:rPr lang="ko-KR" altLang="en-US" sz="11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확통</a:t>
                      </a: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03-07] </a:t>
                      </a: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공학 도구를 이용하여 모평균 및 모비율을 추정하고 그 결과를 해석할 수 있다</a:t>
                      </a: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.</a:t>
                      </a:r>
                      <a:endParaRPr sz="1100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000" marR="90000" marT="45725" marB="45725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6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ko-KR" sz="1100" b="1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탐구 질문</a:t>
                      </a:r>
                      <a:endParaRPr sz="1100" b="1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0" marR="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A9F4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① 표본 조사 결과로 전체 학생의 의견을 어떻게 추정할 수 있는가</a:t>
                      </a: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?</a:t>
                      </a:r>
                      <a:br>
                        <a:rPr lang="ko-KR" altLang="en-US" sz="1100" dirty="0"/>
                      </a:b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② 신뢰구간은 추정의 불확실성을 어떻게 나타내는가</a:t>
                      </a: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?</a:t>
                      </a:r>
                      <a:br>
                        <a:rPr lang="ko-KR" altLang="en-US" sz="1100" dirty="0"/>
                      </a:b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③ 통계적 추정은 의사결정에 어떤 도움을 주는가</a:t>
                      </a: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?</a:t>
                      </a:r>
                      <a:endParaRPr sz="1100" b="1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000" marR="90000" marT="45725" marB="45725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AI</a:t>
                      </a:r>
                      <a:r>
                        <a:rPr lang="ko-KR" sz="1100" b="1">
                          <a:solidFill>
                            <a:schemeClr val="lt1"/>
                          </a:solidFill>
                        </a:rPr>
                        <a:t>·</a:t>
                      </a:r>
                      <a:r>
                        <a:rPr lang="ko-KR" sz="1100" b="1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디지털 도구</a:t>
                      </a:r>
                      <a:endParaRPr sz="1100"/>
                    </a:p>
                  </a:txBody>
                  <a:tcPr marL="0" marR="0" marT="45725" marB="45725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A9F4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Google Forms, Google Sheets </a:t>
                      </a: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또는 </a:t>
                      </a: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Excel, </a:t>
                      </a:r>
                      <a:r>
                        <a:rPr lang="en-US" altLang="ko-KR" sz="11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ChatGPT</a:t>
                      </a: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또는 학교 승인 생성형 </a:t>
                      </a: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AI, Padlet</a:t>
                      </a:r>
                      <a:endParaRPr sz="1100" dirty="0"/>
                    </a:p>
                  </a:txBody>
                  <a:tcPr marL="90000" marR="90000" marT="45725" marB="45725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4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ko-KR" sz="1100" b="1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단원 재구성</a:t>
                      </a:r>
                      <a:endParaRPr sz="1100" b="1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ko-KR" sz="1100" b="1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의도</a:t>
                      </a:r>
                      <a:endParaRPr sz="1100" b="1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0" marR="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A9F4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학생이 급식 </a:t>
                      </a:r>
                      <a:r>
                        <a:rPr lang="ko-KR" altLang="en-US" sz="11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신메뉴</a:t>
                      </a: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시범 제공이라는 실제 문제를 해결하도록 단원을 재구성한다</a:t>
                      </a: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. </a:t>
                      </a: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모집단과 표본을 설정하고</a:t>
                      </a: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, </a:t>
                      </a: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익명 표본자료로 모비율의 </a:t>
                      </a: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95% </a:t>
                      </a: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신뢰구간을 구한 뒤</a:t>
                      </a: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, </a:t>
                      </a: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판단 기준과 조사 한계를 고려하여 조건부 통계 자문을 작성한다</a:t>
                      </a: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.</a:t>
                      </a:r>
                      <a:endParaRPr sz="1100" dirty="0"/>
                    </a:p>
                  </a:txBody>
                  <a:tcPr marL="90000" marR="90000" marT="45725" marB="45725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학생 및 과제 분석</a:t>
                      </a:r>
                      <a:endParaRPr sz="1100"/>
                    </a:p>
                  </a:txBody>
                  <a:tcPr marL="90000" marR="9000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A9F4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학생은 표본비율과 모비율을 동일시하거나 신뢰구간을 확률 구간으로 오해할 수 있다</a:t>
                      </a: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. </a:t>
                      </a: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계산</a:t>
                      </a: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·</a:t>
                      </a: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시각화</a:t>
                      </a: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·AI </a:t>
                      </a: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답변 검증 활동을 통해 </a:t>
                      </a:r>
                      <a:r>
                        <a:rPr lang="ko-KR" altLang="en-US" sz="11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오개념을</a:t>
                      </a: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수정하고</a:t>
                      </a: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, AI</a:t>
                      </a: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의 제안을 그대로 복사하지 않고 근거를 바탕으로 선택하도록 한다</a:t>
                      </a: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.</a:t>
                      </a:r>
                      <a:endParaRPr sz="1100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000" marR="9000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51" name="Google Shape;851;p46"/>
          <p:cNvSpPr/>
          <p:nvPr/>
        </p:nvSpPr>
        <p:spPr>
          <a:xfrm>
            <a:off x="260060" y="3990306"/>
            <a:ext cx="1334700" cy="303300"/>
          </a:xfrm>
          <a:prstGeom prst="roundRect">
            <a:avLst>
              <a:gd name="adj" fmla="val 50000"/>
            </a:avLst>
          </a:prstGeom>
          <a:solidFill>
            <a:srgbClr val="2F559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과정 중심 평가</a:t>
            </a:r>
            <a:endParaRPr/>
          </a:p>
        </p:txBody>
      </p:sp>
      <p:sp>
        <p:nvSpPr>
          <p:cNvPr id="852" name="Google Shape;852;p46"/>
          <p:cNvSpPr/>
          <p:nvPr/>
        </p:nvSpPr>
        <p:spPr>
          <a:xfrm>
            <a:off x="3531765" y="673251"/>
            <a:ext cx="5128500" cy="353700"/>
          </a:xfrm>
          <a:prstGeom prst="roundRect">
            <a:avLst>
              <a:gd name="adj" fmla="val 50000"/>
            </a:avLst>
          </a:prstGeom>
          <a:solidFill>
            <a:srgbClr val="03A9F4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(      )</a:t>
            </a:r>
            <a:r>
              <a:rPr lang="ko-KR" sz="1500" b="1" i="0" u="none" strike="noStrike" cap="none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과 </a:t>
            </a:r>
            <a:r>
              <a:rPr lang="ko-KR" sz="1500" b="1" i="0" u="none" strike="noStrike" cap="none" dirty="0" err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AI·디지털</a:t>
            </a:r>
            <a:r>
              <a:rPr lang="ko-KR" sz="1500" b="1" i="0" u="none" strike="noStrike" cap="none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 도구 활용 단원 </a:t>
            </a:r>
            <a:r>
              <a:rPr lang="ko-KR" sz="1500" b="1" i="0" u="none" strike="noStrike" cap="none" dirty="0" err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교수·학습설계안</a:t>
            </a:r>
            <a:endParaRPr sz="1500" b="1" i="0" u="none" strike="noStrike" cap="none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2" name="Google Shape;684;p41">
            <a:extLst>
              <a:ext uri="{FF2B5EF4-FFF2-40B4-BE49-F238E27FC236}">
                <a16:creationId xmlns:a16="http://schemas.microsoft.com/office/drawing/2014/main" id="{C1AED519-4C98-8A6B-CB16-35DCA15D7F3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42651983"/>
              </p:ext>
            </p:extLst>
          </p:nvPr>
        </p:nvGraphicFramePr>
        <p:xfrm>
          <a:off x="83759" y="4380633"/>
          <a:ext cx="9005977" cy="2246864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9664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982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982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982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46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6424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평가요소</a:t>
                      </a:r>
                      <a:endParaRPr sz="1100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A9F4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피드백</a:t>
                      </a:r>
                      <a:endParaRPr sz="1100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A9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평가도구</a:t>
                      </a:r>
                      <a:endParaRPr sz="1100" b="1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(방법)</a:t>
                      </a:r>
                      <a:endParaRPr sz="1100" b="1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A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6424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심화</a:t>
                      </a:r>
                      <a:endParaRPr sz="1100"/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A9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기본</a:t>
                      </a:r>
                      <a:endParaRPr sz="1100"/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A9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기초 </a:t>
                      </a:r>
                      <a:endParaRPr sz="1100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A9F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3456">
                <a:tc>
                  <a:txBody>
                    <a:bodyPr/>
                    <a:lstStyle/>
                    <a:p>
                      <a:r>
                        <a:rPr lang="ko-KR" altLang="en-US" sz="1100" dirty="0">
                          <a:effectLst/>
                        </a:rPr>
                        <a:t>모비율의 </a:t>
                      </a:r>
                      <a:r>
                        <a:rPr lang="en-US" altLang="ko-KR" sz="1100" dirty="0">
                          <a:effectLst/>
                        </a:rPr>
                        <a:t>95% </a:t>
                      </a:r>
                      <a:r>
                        <a:rPr lang="ko-KR" altLang="en-US" sz="1100" dirty="0">
                          <a:effectLst/>
                        </a:rPr>
                        <a:t>신뢰구간 추정</a:t>
                      </a:r>
                      <a:r>
                        <a:rPr lang="en-US" altLang="ko-KR" sz="1100" dirty="0">
                          <a:effectLst/>
                        </a:rPr>
                        <a:t>·</a:t>
                      </a:r>
                      <a:r>
                        <a:rPr lang="ko-KR" altLang="en-US" sz="1100" dirty="0">
                          <a:effectLst/>
                        </a:rPr>
                        <a:t>해석</a:t>
                      </a:r>
                    </a:p>
                  </a:txBody>
                  <a:tcPr marL="54429" marR="54429" marT="27214" marB="27214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F3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100">
                          <a:effectLst/>
                        </a:rPr>
                        <a:t>조건을 확인하고 신뢰구간을 정확히 구하여 판단 기준과 조사 한계까지 연결해 해석함</a:t>
                      </a:r>
                    </a:p>
                  </a:txBody>
                  <a:tcPr marL="54429" marR="54429" marT="27214" marB="27214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100" dirty="0">
                          <a:effectLst/>
                        </a:rPr>
                        <a:t>신뢰구간을 구하고 조사 맥락과 판단 기준에 맞게 해석함</a:t>
                      </a:r>
                    </a:p>
                  </a:txBody>
                  <a:tcPr marL="54429" marR="54429" marT="27214" marB="27214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100" dirty="0">
                          <a:effectLst/>
                        </a:rPr>
                        <a:t>안내를 받아 신뢰구간을 구하고 의미를 부분적으로 설명함</a:t>
                      </a:r>
                    </a:p>
                  </a:txBody>
                  <a:tcPr marL="54429" marR="54429" marT="27214" marB="27214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100">
                          <a:effectLst/>
                        </a:rPr>
                        <a:t>Sheets </a:t>
                      </a:r>
                      <a:r>
                        <a:rPr lang="ko-KR" altLang="en-US" sz="1100">
                          <a:effectLst/>
                        </a:rPr>
                        <a:t>분석 파일</a:t>
                      </a:r>
                      <a:r>
                        <a:rPr lang="en-US" altLang="ko-KR" sz="1100">
                          <a:effectLst/>
                        </a:rPr>
                        <a:t>, </a:t>
                      </a:r>
                      <a:r>
                        <a:rPr lang="ko-KR" altLang="en-US" sz="1100">
                          <a:effectLst/>
                        </a:rPr>
                        <a:t>개인 분석지</a:t>
                      </a:r>
                    </a:p>
                  </a:txBody>
                  <a:tcPr marL="54429" marR="54429" marT="27214" marB="27214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5228">
                <a:tc>
                  <a:txBody>
                    <a:bodyPr/>
                    <a:lstStyle/>
                    <a:p>
                      <a:r>
                        <a:rPr lang="ko-KR" altLang="en-US" sz="1100">
                          <a:effectLst/>
                        </a:rPr>
                        <a:t>근거와 한계가 있는 통계 자문</a:t>
                      </a:r>
                    </a:p>
                  </a:txBody>
                  <a:tcPr marL="54429" marR="54429" marT="27214" marB="27214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F3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100">
                          <a:effectLst/>
                        </a:rPr>
                        <a:t>주장</a:t>
                      </a:r>
                      <a:r>
                        <a:rPr lang="en-US" altLang="ko-KR" sz="1100">
                          <a:effectLst/>
                        </a:rPr>
                        <a:t>·</a:t>
                      </a:r>
                      <a:r>
                        <a:rPr lang="ko-KR" altLang="en-US" sz="1100">
                          <a:effectLst/>
                        </a:rPr>
                        <a:t>근거</a:t>
                      </a:r>
                      <a:r>
                        <a:rPr lang="en-US" altLang="ko-KR" sz="1100">
                          <a:effectLst/>
                        </a:rPr>
                        <a:t>·</a:t>
                      </a:r>
                      <a:r>
                        <a:rPr lang="ko-KR" altLang="en-US" sz="1100">
                          <a:effectLst/>
                        </a:rPr>
                        <a:t>해석</a:t>
                      </a:r>
                      <a:r>
                        <a:rPr lang="en-US" altLang="ko-KR" sz="1100">
                          <a:effectLst/>
                        </a:rPr>
                        <a:t>·</a:t>
                      </a:r>
                      <a:r>
                        <a:rPr lang="ko-KR" altLang="en-US" sz="1100">
                          <a:effectLst/>
                        </a:rPr>
                        <a:t>한계가 일치하는 조건부 권고를 제시하고 </a:t>
                      </a:r>
                      <a:r>
                        <a:rPr lang="en-US" altLang="ko-KR" sz="1100">
                          <a:effectLst/>
                        </a:rPr>
                        <a:t>AI </a:t>
                      </a:r>
                      <a:r>
                        <a:rPr lang="ko-KR" altLang="en-US" sz="1100">
                          <a:effectLst/>
                        </a:rPr>
                        <a:t>피드백의 반영 여부를 설명함</a:t>
                      </a:r>
                    </a:p>
                  </a:txBody>
                  <a:tcPr marL="54429" marR="54429" marT="27214" marB="27214" anchor="ctr">
                    <a:lnL w="9525" cap="flat" cmpd="sng" algn="ctr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100">
                          <a:effectLst/>
                        </a:rPr>
                        <a:t>통계적 근거와 결론을 연결하고 주요 한계를 설명함</a:t>
                      </a:r>
                    </a:p>
                  </a:txBody>
                  <a:tcPr marL="54429" marR="54429" marT="27214" marB="27214" anchor="ctr">
                    <a:lnL w="9525" cap="flat" cmpd="sng" algn="ctr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100">
                          <a:effectLst/>
                        </a:rPr>
                        <a:t>수치와 결론은 제시하나 근거 연결이나 한계 설명이 부족함</a:t>
                      </a:r>
                    </a:p>
                  </a:txBody>
                  <a:tcPr marL="54429" marR="54429" marT="27214" marB="27214" anchor="ctr">
                    <a:lnL w="9525" cap="flat" cmpd="sng" algn="ctr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100" dirty="0">
                          <a:effectLst/>
                        </a:rPr>
                        <a:t>최종 통계 자문</a:t>
                      </a:r>
                      <a:r>
                        <a:rPr lang="en-US" altLang="ko-KR" sz="1100" dirty="0">
                          <a:effectLst/>
                        </a:rPr>
                        <a:t>, AI </a:t>
                      </a:r>
                      <a:r>
                        <a:rPr lang="ko-KR" altLang="en-US" sz="1100" dirty="0">
                          <a:effectLst/>
                        </a:rPr>
                        <a:t>피드백 판단 기록</a:t>
                      </a:r>
                      <a:r>
                        <a:rPr lang="en-US" altLang="ko-KR" sz="1100" dirty="0">
                          <a:effectLst/>
                        </a:rPr>
                        <a:t>, </a:t>
                      </a:r>
                      <a:r>
                        <a:rPr lang="ko-KR" altLang="en-US" sz="1100" dirty="0">
                          <a:effectLst/>
                        </a:rPr>
                        <a:t>동료평가</a:t>
                      </a:r>
                    </a:p>
                  </a:txBody>
                  <a:tcPr marL="54429" marR="54429" marT="27214" marB="27214" anchor="ctr">
                    <a:lnL w="9525" cap="flat" cmpd="sng" algn="ctr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3" name="Google Shape;685;p41">
            <a:extLst>
              <a:ext uri="{FF2B5EF4-FFF2-40B4-BE49-F238E27FC236}">
                <a16:creationId xmlns:a16="http://schemas.microsoft.com/office/drawing/2014/main" id="{89879146-47EA-1C5D-13FB-447C99670DDD}"/>
              </a:ext>
            </a:extLst>
          </p:cNvPr>
          <p:cNvGrpSpPr/>
          <p:nvPr/>
        </p:nvGrpSpPr>
        <p:grpSpPr>
          <a:xfrm>
            <a:off x="9219501" y="4477986"/>
            <a:ext cx="2723600" cy="2296503"/>
            <a:chOff x="9219501" y="4852450"/>
            <a:chExt cx="2723600" cy="2296503"/>
          </a:xfrm>
        </p:grpSpPr>
        <p:sp>
          <p:nvSpPr>
            <p:cNvPr id="4" name="Google Shape;686;p41">
              <a:extLst>
                <a:ext uri="{FF2B5EF4-FFF2-40B4-BE49-F238E27FC236}">
                  <a16:creationId xmlns:a16="http://schemas.microsoft.com/office/drawing/2014/main" id="{A24B2AF5-3467-FEF8-F6AB-FEE474A99224}"/>
                </a:ext>
              </a:extLst>
            </p:cNvPr>
            <p:cNvSpPr/>
            <p:nvPr/>
          </p:nvSpPr>
          <p:spPr>
            <a:xfrm>
              <a:off x="9219501" y="5047964"/>
              <a:ext cx="2723600" cy="2100989"/>
            </a:xfrm>
            <a:prstGeom prst="roundRect">
              <a:avLst>
                <a:gd name="adj" fmla="val 4677"/>
              </a:avLst>
            </a:prstGeom>
            <a:solidFill>
              <a:srgbClr val="E5EBF7"/>
            </a:solidFill>
            <a:ln w="19050" cap="flat" cmpd="sng">
              <a:solidFill>
                <a:srgbClr val="2F5597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54000" tIns="252000" rIns="54000" bIns="0" anchor="t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0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✔ AI 생성 문장 그대로 제출 금지</a:t>
              </a:r>
              <a:endPara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0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→ 반드시 자신의 언어로 재구성</a:t>
              </a:r>
              <a:br>
                <a:rPr lang="ko-KR" sz="10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lang="ko-KR" sz="10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✔ AI 사용 시 이름·연락처 등 개인정보 입력 금지</a:t>
              </a:r>
              <a:br>
                <a:rPr lang="ko-KR" sz="10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lang="ko-KR" sz="10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✔ AI 피드백이 항상 정확하지 않음</a:t>
              </a:r>
              <a:endPara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0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→ 학생이 직접 판단하도록 지도</a:t>
              </a:r>
              <a:br>
                <a:rPr lang="ko-KR" sz="10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lang="ko-KR" sz="10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✔ AI는 보조 도구, 수업의 주체는 학생임을 지속 강조</a:t>
              </a:r>
              <a:br>
                <a:rPr lang="ko-KR" sz="10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lang="ko-KR" sz="10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✔ 이미지 삽입 시 CC라이선스 이미지 사용 (저작권 교육 연계)</a:t>
              </a:r>
              <a:endParaRPr/>
            </a:p>
          </p:txBody>
        </p:sp>
        <p:grpSp>
          <p:nvGrpSpPr>
            <p:cNvPr id="5" name="Google Shape;687;p41">
              <a:extLst>
                <a:ext uri="{FF2B5EF4-FFF2-40B4-BE49-F238E27FC236}">
                  <a16:creationId xmlns:a16="http://schemas.microsoft.com/office/drawing/2014/main" id="{8D01E70D-70B1-8B0C-D962-C34E14794194}"/>
                </a:ext>
              </a:extLst>
            </p:cNvPr>
            <p:cNvGrpSpPr/>
            <p:nvPr/>
          </p:nvGrpSpPr>
          <p:grpSpPr>
            <a:xfrm>
              <a:off x="9305762" y="4852450"/>
              <a:ext cx="2551078" cy="433172"/>
              <a:chOff x="9079160" y="6446689"/>
              <a:chExt cx="2551078" cy="433172"/>
            </a:xfrm>
          </p:grpSpPr>
          <p:sp>
            <p:nvSpPr>
              <p:cNvPr id="6" name="Google Shape;688;p41">
                <a:extLst>
                  <a:ext uri="{FF2B5EF4-FFF2-40B4-BE49-F238E27FC236}">
                    <a16:creationId xmlns:a16="http://schemas.microsoft.com/office/drawing/2014/main" id="{14710271-E542-956A-862D-1D9BE168C525}"/>
                  </a:ext>
                </a:extLst>
              </p:cNvPr>
              <p:cNvSpPr/>
              <p:nvPr/>
            </p:nvSpPr>
            <p:spPr>
              <a:xfrm>
                <a:off x="9338690" y="6498067"/>
                <a:ext cx="2291548" cy="303278"/>
              </a:xfrm>
              <a:prstGeom prst="roundRect">
                <a:avLst>
                  <a:gd name="adj" fmla="val 50000"/>
                </a:avLst>
              </a:prstGeom>
              <a:solidFill>
                <a:srgbClr val="2F5597"/>
              </a:solidFill>
              <a:ln>
                <a:noFill/>
              </a:ln>
            </p:spPr>
            <p:txBody>
              <a:bodyPr spcFirstLastPara="1" wrap="square" lIns="144000" tIns="0" rIns="0" bIns="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100" b="1" i="0" u="none" strike="noStrike" cap="none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AI·디지털 도구 활용 유의사항</a:t>
                </a:r>
                <a:endParaRPr/>
              </a:p>
            </p:txBody>
          </p:sp>
          <p:pic>
            <p:nvPicPr>
              <p:cNvPr id="7" name="Google Shape;689;p41">
                <a:extLst>
                  <a:ext uri="{FF2B5EF4-FFF2-40B4-BE49-F238E27FC236}">
                    <a16:creationId xmlns:a16="http://schemas.microsoft.com/office/drawing/2014/main" id="{DD70BB0D-302C-DC9D-B43E-4808471EFDCF}"/>
                  </a:ext>
                </a:extLst>
              </p:cNvPr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 flipH="1">
                <a:off x="9079160" y="6446689"/>
                <a:ext cx="433174" cy="43317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9" name="Google Shape;869;p48"/>
          <p:cNvGrpSpPr/>
          <p:nvPr/>
        </p:nvGrpSpPr>
        <p:grpSpPr>
          <a:xfrm>
            <a:off x="745923" y="595886"/>
            <a:ext cx="11229528" cy="6090660"/>
            <a:chOff x="745923" y="3033212"/>
            <a:chExt cx="11229528" cy="3512694"/>
          </a:xfrm>
        </p:grpSpPr>
        <p:grpSp>
          <p:nvGrpSpPr>
            <p:cNvPr id="870" name="Google Shape;870;p48"/>
            <p:cNvGrpSpPr/>
            <p:nvPr/>
          </p:nvGrpSpPr>
          <p:grpSpPr>
            <a:xfrm>
              <a:off x="745923" y="3033212"/>
              <a:ext cx="11229528" cy="3512694"/>
              <a:chOff x="570454" y="1941446"/>
              <a:chExt cx="11434200" cy="4576800"/>
            </a:xfrm>
          </p:grpSpPr>
          <p:cxnSp>
            <p:nvCxnSpPr>
              <p:cNvPr id="871" name="Google Shape;871;p48"/>
              <p:cNvCxnSpPr/>
              <p:nvPr/>
            </p:nvCxnSpPr>
            <p:spPr>
              <a:xfrm>
                <a:off x="570454" y="6518246"/>
                <a:ext cx="11434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triangle" w="med" len="med"/>
              </a:ln>
            </p:spPr>
          </p:cxnSp>
          <p:cxnSp>
            <p:nvCxnSpPr>
              <p:cNvPr id="872" name="Google Shape;872;p48"/>
              <p:cNvCxnSpPr/>
              <p:nvPr/>
            </p:nvCxnSpPr>
            <p:spPr>
              <a:xfrm rot="10800000">
                <a:off x="570454" y="1941446"/>
                <a:ext cx="0" cy="4576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</p:cxnSp>
        </p:grpSp>
        <p:cxnSp>
          <p:nvCxnSpPr>
            <p:cNvPr id="873" name="Google Shape;873;p48"/>
            <p:cNvCxnSpPr/>
            <p:nvPr/>
          </p:nvCxnSpPr>
          <p:spPr>
            <a:xfrm rot="10800000" flipH="1">
              <a:off x="768353" y="3521105"/>
              <a:ext cx="11114700" cy="57900"/>
            </a:xfrm>
            <a:prstGeom prst="straightConnector1">
              <a:avLst/>
            </a:prstGeom>
            <a:noFill/>
            <a:ln w="22225" cap="rnd" cmpd="sng">
              <a:solidFill>
                <a:schemeClr val="dk1"/>
              </a:solidFill>
              <a:prstDash val="dot"/>
              <a:miter lim="8000"/>
              <a:headEnd type="none" w="sm" len="sm"/>
              <a:tailEnd type="none" w="sm" len="sm"/>
            </a:ln>
          </p:spPr>
        </p:cxnSp>
        <p:cxnSp>
          <p:nvCxnSpPr>
            <p:cNvPr id="874" name="Google Shape;874;p48"/>
            <p:cNvCxnSpPr/>
            <p:nvPr/>
          </p:nvCxnSpPr>
          <p:spPr>
            <a:xfrm>
              <a:off x="762000" y="4598507"/>
              <a:ext cx="11122500" cy="0"/>
            </a:xfrm>
            <a:prstGeom prst="straightConnector1">
              <a:avLst/>
            </a:prstGeom>
            <a:noFill/>
            <a:ln w="22225" cap="rnd" cmpd="sng">
              <a:solidFill>
                <a:schemeClr val="dk1"/>
              </a:solidFill>
              <a:prstDash val="dot"/>
              <a:miter lim="8000"/>
              <a:headEnd type="none" w="sm" len="sm"/>
              <a:tailEnd type="none" w="sm" len="sm"/>
            </a:ln>
          </p:spPr>
        </p:cxnSp>
        <p:cxnSp>
          <p:nvCxnSpPr>
            <p:cNvPr id="875" name="Google Shape;875;p48"/>
            <p:cNvCxnSpPr/>
            <p:nvPr/>
          </p:nvCxnSpPr>
          <p:spPr>
            <a:xfrm>
              <a:off x="768353" y="5618009"/>
              <a:ext cx="11114700" cy="0"/>
            </a:xfrm>
            <a:prstGeom prst="straightConnector1">
              <a:avLst/>
            </a:prstGeom>
            <a:noFill/>
            <a:ln w="22225" cap="rnd" cmpd="sng">
              <a:solidFill>
                <a:schemeClr val="dk1"/>
              </a:solidFill>
              <a:prstDash val="dot"/>
              <a:miter lim="8000"/>
              <a:headEnd type="none" w="sm" len="sm"/>
              <a:tailEnd type="none" w="sm" len="sm"/>
            </a:ln>
          </p:spPr>
        </p:cxnSp>
      </p:grpSp>
      <p:cxnSp>
        <p:nvCxnSpPr>
          <p:cNvPr id="876" name="Google Shape;876;p48"/>
          <p:cNvCxnSpPr>
            <a:stCxn id="877" idx="3"/>
            <a:endCxn id="878" idx="1"/>
          </p:cNvCxnSpPr>
          <p:nvPr/>
        </p:nvCxnSpPr>
        <p:spPr>
          <a:xfrm>
            <a:off x="2750489" y="4134151"/>
            <a:ext cx="399600" cy="32700"/>
          </a:xfrm>
          <a:prstGeom prst="bentConnector3">
            <a:avLst>
              <a:gd name="adj1" fmla="val 49995"/>
            </a:avLst>
          </a:prstGeom>
          <a:noFill/>
          <a:ln w="38100" cap="flat" cmpd="sng">
            <a:solidFill>
              <a:schemeClr val="dk1"/>
            </a:solidFill>
            <a:prstDash val="solid"/>
            <a:miter lim="8000"/>
            <a:headEnd type="none" w="sm" len="sm"/>
            <a:tailEnd type="triangle" w="med" len="med"/>
          </a:ln>
        </p:spPr>
      </p:cxnSp>
      <p:grpSp>
        <p:nvGrpSpPr>
          <p:cNvPr id="879" name="Google Shape;879;p48"/>
          <p:cNvGrpSpPr/>
          <p:nvPr/>
        </p:nvGrpSpPr>
        <p:grpSpPr>
          <a:xfrm>
            <a:off x="905675" y="3363505"/>
            <a:ext cx="1844955" cy="3080146"/>
            <a:chOff x="905624" y="2552258"/>
            <a:chExt cx="2391697" cy="3080146"/>
          </a:xfrm>
        </p:grpSpPr>
        <p:sp>
          <p:nvSpPr>
            <p:cNvPr id="880" name="Google Shape;880;p48"/>
            <p:cNvSpPr/>
            <p:nvPr/>
          </p:nvSpPr>
          <p:spPr>
            <a:xfrm>
              <a:off x="905721" y="4040604"/>
              <a:ext cx="2391600" cy="1591800"/>
            </a:xfrm>
            <a:prstGeom prst="roundRect">
              <a:avLst>
                <a:gd name="adj" fmla="val 6381"/>
              </a:avLst>
            </a:prstGeom>
            <a:solidFill>
              <a:srgbClr val="EEE5FF"/>
            </a:solidFill>
            <a:ln w="12700" cap="flat" cmpd="sng">
              <a:solidFill>
                <a:srgbClr val="9965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85725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1000" b="1" i="0" dirty="0">
                  <a:solidFill>
                    <a:schemeClr val="tx1"/>
                  </a:solidFill>
                  <a:effectLst/>
                  <a:latin typeface="-apple-system"/>
                </a:rPr>
                <a:t>도구</a:t>
              </a:r>
              <a:r>
                <a:rPr lang="en-US" altLang="ko-KR" sz="1000" b="1" i="0" dirty="0">
                  <a:solidFill>
                    <a:schemeClr val="tx1"/>
                  </a:solidFill>
                  <a:effectLst/>
                  <a:latin typeface="-apple-system"/>
                </a:rPr>
                <a:t>:</a:t>
              </a:r>
              <a:r>
                <a:rPr lang="ko-KR" altLang="en-US" sz="1000" b="0" i="0" dirty="0">
                  <a:solidFill>
                    <a:schemeClr val="tx1"/>
                  </a:solidFill>
                  <a:effectLst/>
                  <a:latin typeface="-apple-system"/>
                </a:rPr>
                <a:t> </a:t>
              </a:r>
              <a:r>
                <a:rPr lang="en-US" altLang="ko-KR" sz="1000" b="0" i="0" dirty="0">
                  <a:solidFill>
                    <a:schemeClr val="tx1"/>
                  </a:solidFill>
                  <a:effectLst/>
                  <a:latin typeface="-apple-system"/>
                </a:rPr>
                <a:t>Google Forms, Padlet</a:t>
              </a:r>
              <a:br>
                <a:rPr lang="ko-KR" altLang="en-US" sz="1000" dirty="0">
                  <a:solidFill>
                    <a:schemeClr val="tx1"/>
                  </a:solidFill>
                </a:rPr>
              </a:br>
              <a:r>
                <a:rPr lang="ko-KR" altLang="en-US" sz="1000" b="1" i="0" dirty="0">
                  <a:solidFill>
                    <a:schemeClr val="tx1"/>
                  </a:solidFill>
                  <a:effectLst/>
                  <a:latin typeface="-apple-system"/>
                </a:rPr>
                <a:t>역할</a:t>
              </a:r>
              <a:r>
                <a:rPr lang="en-US" altLang="ko-KR" sz="1000" b="1" i="0" dirty="0">
                  <a:solidFill>
                    <a:schemeClr val="tx1"/>
                  </a:solidFill>
                  <a:effectLst/>
                  <a:latin typeface="-apple-system"/>
                </a:rPr>
                <a:t>:</a:t>
              </a:r>
              <a:r>
                <a:rPr lang="ko-KR" altLang="en-US" sz="1000" b="0" i="0" dirty="0">
                  <a:solidFill>
                    <a:schemeClr val="tx1"/>
                  </a:solidFill>
                  <a:effectLst/>
                  <a:latin typeface="-apple-system"/>
                </a:rPr>
                <a:t> 학생의 초기 판단을 수집하고 탐구 질문을 공유함</a:t>
              </a:r>
              <a:endParaRPr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881" name="Google Shape;881;p48"/>
            <p:cNvGrpSpPr/>
            <p:nvPr/>
          </p:nvGrpSpPr>
          <p:grpSpPr>
            <a:xfrm>
              <a:off x="905624" y="2552258"/>
              <a:ext cx="2391515" cy="1409946"/>
              <a:chOff x="2194121" y="4892040"/>
              <a:chExt cx="1381500" cy="1409946"/>
            </a:xfrm>
          </p:grpSpPr>
          <p:sp>
            <p:nvSpPr>
              <p:cNvPr id="877" name="Google Shape;877;p48"/>
              <p:cNvSpPr/>
              <p:nvPr/>
            </p:nvSpPr>
            <p:spPr>
              <a:xfrm>
                <a:off x="2194121" y="5023386"/>
                <a:ext cx="1381500" cy="1278600"/>
              </a:xfrm>
              <a:prstGeom prst="roundRect">
                <a:avLst>
                  <a:gd name="adj" fmla="val 3340"/>
                </a:avLst>
              </a:prstGeom>
              <a:solidFill>
                <a:schemeClr val="lt1"/>
              </a:solidFill>
              <a:ln w="19050" cap="flat" cmpd="sng">
                <a:solidFill>
                  <a:srgbClr val="9965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0" tIns="144000" rIns="0" bIns="0" anchor="t" anchorCtr="0">
                <a:noAutofit/>
              </a:bodyPr>
              <a:lstStyle/>
              <a:p>
                <a:pPr algn="l"/>
                <a:r>
                  <a:rPr lang="ko-KR" altLang="en-US" sz="1000" b="1" i="0" dirty="0">
                    <a:solidFill>
                      <a:schemeClr val="tx1"/>
                    </a:solidFill>
                    <a:effectLst/>
                    <a:latin typeface="-apple-system"/>
                  </a:rPr>
                  <a:t>통계적 추정 문제 이해</a:t>
                </a:r>
                <a:endParaRPr lang="ko-KR" altLang="en-US" sz="1000" b="0" i="0" dirty="0">
                  <a:solidFill>
                    <a:schemeClr val="tx1"/>
                  </a:solidFill>
                  <a:effectLst/>
                  <a:latin typeface="-apple-system"/>
                </a:endParaRPr>
              </a:p>
              <a:p>
                <a:pPr algn="l">
                  <a:buFont typeface="Arial" panose="020B0604020202020204" pitchFamily="34" charset="0"/>
                  <a:buChar char="•"/>
                </a:pP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급식 </a:t>
                </a:r>
                <a:r>
                  <a:rPr lang="ko-KR" altLang="en-US" sz="1000" b="0" i="0" dirty="0" err="1">
                    <a:solidFill>
                      <a:schemeClr val="tx1"/>
                    </a:solidFill>
                    <a:effectLst/>
                    <a:latin typeface="-apple-system"/>
                  </a:rPr>
                  <a:t>신메뉴</a:t>
                </a: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 시범 제공 문제 확인</a:t>
                </a:r>
              </a:p>
              <a:p>
                <a:pPr algn="l">
                  <a:buFont typeface="Arial" panose="020B0604020202020204" pitchFamily="34" charset="0"/>
                  <a:buChar char="•"/>
                </a:pP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모집단</a:t>
                </a:r>
                <a:r>
                  <a:rPr lang="en-US" altLang="ko-KR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·</a:t>
                </a: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표본</a:t>
                </a:r>
                <a:r>
                  <a:rPr lang="en-US" altLang="ko-KR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·</a:t>
                </a:r>
                <a:r>
                  <a:rPr lang="ko-KR" altLang="en-US" sz="1000" b="0" i="0" dirty="0" err="1">
                    <a:solidFill>
                      <a:schemeClr val="tx1"/>
                    </a:solidFill>
                    <a:effectLst/>
                    <a:latin typeface="-apple-system"/>
                  </a:rPr>
                  <a:t>모비율</a:t>
                </a:r>
                <a:r>
                  <a:rPr lang="en-US" altLang="ko-KR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·</a:t>
                </a: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표본비율 구분</a:t>
                </a:r>
              </a:p>
              <a:p>
                <a:pPr algn="l">
                  <a:buFont typeface="Arial" panose="020B0604020202020204" pitchFamily="34" charset="0"/>
                  <a:buChar char="•"/>
                </a:pP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핵심 탐구 질문과 초기 주장 작성</a:t>
                </a:r>
              </a:p>
              <a:p>
                <a:pPr algn="l"/>
                <a:endParaRPr lang="ko-KR" altLang="en-US" sz="1000" b="0" i="0" dirty="0">
                  <a:solidFill>
                    <a:schemeClr val="tx1"/>
                  </a:solidFill>
                  <a:effectLst/>
                  <a:latin typeface="-apple-system"/>
                </a:endParaRPr>
              </a:p>
            </p:txBody>
          </p:sp>
          <p:sp>
            <p:nvSpPr>
              <p:cNvPr id="882" name="Google Shape;882;p48"/>
              <p:cNvSpPr/>
              <p:nvPr/>
            </p:nvSpPr>
            <p:spPr>
              <a:xfrm>
                <a:off x="2274652" y="4892040"/>
                <a:ext cx="1221900" cy="264300"/>
              </a:xfrm>
              <a:prstGeom prst="roundRect">
                <a:avLst>
                  <a:gd name="adj" fmla="val 50000"/>
                </a:avLst>
              </a:prstGeom>
              <a:solidFill>
                <a:srgbClr val="9965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000" b="1" i="0" u="none" strike="noStrike" cap="none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1차시</a:t>
                </a:r>
                <a:endParaRPr sz="100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883" name="Google Shape;883;p48"/>
          <p:cNvGrpSpPr/>
          <p:nvPr/>
        </p:nvGrpSpPr>
        <p:grpSpPr>
          <a:xfrm>
            <a:off x="9883125" y="24704"/>
            <a:ext cx="1844955" cy="3694900"/>
            <a:chOff x="9379471" y="759196"/>
            <a:chExt cx="2391697" cy="2464581"/>
          </a:xfrm>
        </p:grpSpPr>
        <p:sp>
          <p:nvSpPr>
            <p:cNvPr id="884" name="Google Shape;884;p48"/>
            <p:cNvSpPr/>
            <p:nvPr/>
          </p:nvSpPr>
          <p:spPr>
            <a:xfrm>
              <a:off x="9379568" y="2112277"/>
              <a:ext cx="2391600" cy="1111500"/>
            </a:xfrm>
            <a:prstGeom prst="roundRect">
              <a:avLst>
                <a:gd name="adj" fmla="val 6381"/>
              </a:avLst>
            </a:prstGeom>
            <a:solidFill>
              <a:srgbClr val="FFF3F4"/>
            </a:solidFill>
            <a:ln w="12700" cap="flat" cmpd="sng">
              <a:solidFill>
                <a:srgbClr val="FF5364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85725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1000" b="1" i="0" dirty="0">
                  <a:solidFill>
                    <a:schemeClr val="tx1"/>
                  </a:solidFill>
                  <a:effectLst/>
                  <a:latin typeface="-apple-system"/>
                </a:rPr>
                <a:t>도구</a:t>
              </a:r>
              <a:r>
                <a:rPr lang="en-US" altLang="ko-KR" sz="1000" b="1" i="0" dirty="0">
                  <a:solidFill>
                    <a:schemeClr val="tx1"/>
                  </a:solidFill>
                  <a:effectLst/>
                  <a:latin typeface="-apple-system"/>
                </a:rPr>
                <a:t>:</a:t>
              </a:r>
              <a:r>
                <a:rPr lang="ko-KR" altLang="en-US" sz="1000" b="0" i="0" dirty="0">
                  <a:solidFill>
                    <a:schemeClr val="tx1"/>
                  </a:solidFill>
                  <a:effectLst/>
                  <a:latin typeface="-apple-system"/>
                </a:rPr>
                <a:t> </a:t>
              </a:r>
              <a:r>
                <a:rPr lang="en-US" altLang="ko-KR" sz="1000" b="0" i="0" dirty="0">
                  <a:solidFill>
                    <a:schemeClr val="tx1"/>
                  </a:solidFill>
                  <a:effectLst/>
                  <a:latin typeface="-apple-system"/>
                </a:rPr>
                <a:t>Padlet, Google Slides</a:t>
              </a:r>
              <a:br>
                <a:rPr lang="ko-KR" altLang="en-US" sz="1000" dirty="0">
                  <a:solidFill>
                    <a:schemeClr val="tx1"/>
                  </a:solidFill>
                </a:rPr>
              </a:br>
              <a:r>
                <a:rPr lang="ko-KR" altLang="en-US" sz="1000" b="1" i="0" dirty="0">
                  <a:solidFill>
                    <a:schemeClr val="tx1"/>
                  </a:solidFill>
                  <a:effectLst/>
                  <a:latin typeface="-apple-system"/>
                </a:rPr>
                <a:t>역할</a:t>
              </a:r>
              <a:r>
                <a:rPr lang="en-US" altLang="ko-KR" sz="1000" b="1" i="0" dirty="0">
                  <a:solidFill>
                    <a:schemeClr val="tx1"/>
                  </a:solidFill>
                  <a:effectLst/>
                  <a:latin typeface="-apple-system"/>
                </a:rPr>
                <a:t>:</a:t>
              </a:r>
              <a:r>
                <a:rPr lang="ko-KR" altLang="en-US" sz="1000" b="0" i="0" dirty="0">
                  <a:solidFill>
                    <a:schemeClr val="tx1"/>
                  </a:solidFill>
                  <a:effectLst/>
                  <a:latin typeface="-apple-system"/>
                </a:rPr>
                <a:t> 통계 자문을 공유하고 근거와 한계를 </a:t>
              </a:r>
              <a:r>
                <a:rPr lang="ko-KR" altLang="en-US" sz="1000" b="0" i="0" dirty="0" err="1">
                  <a:solidFill>
                    <a:schemeClr val="tx1"/>
                  </a:solidFill>
                  <a:effectLst/>
                  <a:latin typeface="-apple-system"/>
                </a:rPr>
                <a:t>상호평가함</a:t>
              </a:r>
              <a:endParaRPr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885" name="Google Shape;885;p48"/>
            <p:cNvGrpSpPr/>
            <p:nvPr/>
          </p:nvGrpSpPr>
          <p:grpSpPr>
            <a:xfrm>
              <a:off x="9379471" y="759196"/>
              <a:ext cx="2391515" cy="1112950"/>
              <a:chOff x="2194121" y="4892040"/>
              <a:chExt cx="1381500" cy="1112950"/>
            </a:xfrm>
          </p:grpSpPr>
          <p:sp>
            <p:nvSpPr>
              <p:cNvPr id="886" name="Google Shape;886;p48"/>
              <p:cNvSpPr/>
              <p:nvPr/>
            </p:nvSpPr>
            <p:spPr>
              <a:xfrm>
                <a:off x="2194121" y="5023390"/>
                <a:ext cx="1381500" cy="981600"/>
              </a:xfrm>
              <a:prstGeom prst="roundRect">
                <a:avLst>
                  <a:gd name="adj" fmla="val 2443"/>
                </a:avLst>
              </a:prstGeom>
              <a:solidFill>
                <a:schemeClr val="lt1"/>
              </a:solidFill>
              <a:ln w="19050" cap="flat" cmpd="sng">
                <a:solidFill>
                  <a:srgbClr val="FF536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0" tIns="144000" rIns="0" bIns="0" anchor="t" anchorCtr="0">
                <a:noAutofit/>
              </a:bodyPr>
              <a:lstStyle/>
              <a:p>
                <a:pPr algn="l"/>
                <a:r>
                  <a:rPr lang="en-US" altLang="ko-KR" sz="1000" b="1" i="0" dirty="0">
                    <a:solidFill>
                      <a:schemeClr val="tx1"/>
                    </a:solidFill>
                    <a:effectLst/>
                    <a:latin typeface="-apple-system"/>
                  </a:rPr>
                  <a:t>AI</a:t>
                </a:r>
                <a:r>
                  <a:rPr lang="ko-KR" altLang="en-US" sz="1000" b="1" i="0" dirty="0">
                    <a:solidFill>
                      <a:schemeClr val="tx1"/>
                    </a:solidFill>
                    <a:effectLst/>
                    <a:latin typeface="-apple-system"/>
                  </a:rPr>
                  <a:t>의 통계 해석 검증과 자문 수정</a:t>
                </a:r>
                <a:endParaRPr lang="ko-KR" altLang="en-US" sz="1000" b="0" i="0" dirty="0">
                  <a:solidFill>
                    <a:schemeClr val="tx1"/>
                  </a:solidFill>
                  <a:effectLst/>
                  <a:latin typeface="-apple-system"/>
                </a:endParaRPr>
              </a:p>
              <a:p>
                <a:pPr algn="l">
                  <a:buFont typeface="Arial" panose="020B0604020202020204" pitchFamily="34" charset="0"/>
                  <a:buChar char="•"/>
                </a:pPr>
                <a:r>
                  <a:rPr lang="en-US" altLang="ko-KR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AI</a:t>
                </a: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의 신뢰구간 해석과 자신의 계산 비교</a:t>
                </a:r>
              </a:p>
              <a:p>
                <a:pPr algn="l">
                  <a:buFont typeface="Arial" panose="020B0604020202020204" pitchFamily="34" charset="0"/>
                  <a:buChar char="•"/>
                </a:pPr>
                <a:r>
                  <a:rPr lang="en-US" altLang="ko-KR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AI </a:t>
                </a: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답변의 오류와 과잉 해석 검증</a:t>
                </a:r>
              </a:p>
              <a:p>
                <a:pPr algn="l">
                  <a:buFont typeface="Arial" panose="020B0604020202020204" pitchFamily="34" charset="0"/>
                  <a:buChar char="•"/>
                </a:pPr>
                <a:r>
                  <a:rPr lang="en-US" altLang="ko-KR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AI </a:t>
                </a: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피드백을 수용</a:t>
                </a:r>
                <a:r>
                  <a:rPr lang="en-US" altLang="ko-KR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·</a:t>
                </a: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거절하고 이유 기록</a:t>
                </a:r>
              </a:p>
              <a:p>
                <a:pPr algn="l">
                  <a:buFont typeface="Arial" panose="020B0604020202020204" pitchFamily="34" charset="0"/>
                  <a:buChar char="•"/>
                </a:pP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근거와 한계를 포함한 조건부 권고 수정</a:t>
                </a:r>
              </a:p>
              <a:p>
                <a:pPr marL="0" lvl="0" indent="0" algn="l" rtl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endParaRPr lang="ko-KR" altLang="en-US" sz="1000" dirty="0">
                  <a:solidFill>
                    <a:schemeClr val="tx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887" name="Google Shape;887;p48"/>
              <p:cNvSpPr/>
              <p:nvPr/>
            </p:nvSpPr>
            <p:spPr>
              <a:xfrm>
                <a:off x="2274652" y="4892040"/>
                <a:ext cx="1221900" cy="206400"/>
              </a:xfrm>
              <a:prstGeom prst="roundRect">
                <a:avLst>
                  <a:gd name="adj" fmla="val 50000"/>
                </a:avLst>
              </a:prstGeom>
              <a:solidFill>
                <a:srgbClr val="FF5364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000" b="1" i="0" u="none" strike="noStrike" cap="none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5차시</a:t>
                </a:r>
                <a:endParaRPr sz="100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888" name="Google Shape;888;p48"/>
          <p:cNvGrpSpPr/>
          <p:nvPr/>
        </p:nvGrpSpPr>
        <p:grpSpPr>
          <a:xfrm>
            <a:off x="7638724" y="1536137"/>
            <a:ext cx="1845844" cy="3106589"/>
            <a:chOff x="6554835" y="2366460"/>
            <a:chExt cx="2392850" cy="2497459"/>
          </a:xfrm>
        </p:grpSpPr>
        <p:sp>
          <p:nvSpPr>
            <p:cNvPr id="889" name="Google Shape;889;p48"/>
            <p:cNvSpPr/>
            <p:nvPr/>
          </p:nvSpPr>
          <p:spPr>
            <a:xfrm>
              <a:off x="6556085" y="3835519"/>
              <a:ext cx="2391600" cy="1028400"/>
            </a:xfrm>
            <a:prstGeom prst="roundRect">
              <a:avLst>
                <a:gd name="adj" fmla="val 6381"/>
              </a:avLst>
            </a:prstGeom>
            <a:solidFill>
              <a:srgbClr val="FFF7DD"/>
            </a:solidFill>
            <a:ln w="12700" cap="flat" cmpd="sng">
              <a:solidFill>
                <a:srgbClr val="FFC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85725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1000" b="1" i="0" dirty="0">
                  <a:solidFill>
                    <a:schemeClr val="tx1"/>
                  </a:solidFill>
                  <a:effectLst/>
                  <a:latin typeface="-apple-system"/>
                </a:rPr>
                <a:t>도구</a:t>
              </a:r>
              <a:r>
                <a:rPr lang="en-US" altLang="ko-KR" sz="1000" b="1" i="0" dirty="0">
                  <a:solidFill>
                    <a:schemeClr val="tx1"/>
                  </a:solidFill>
                  <a:effectLst/>
                  <a:latin typeface="-apple-system"/>
                </a:rPr>
                <a:t>:</a:t>
              </a:r>
              <a:r>
                <a:rPr lang="ko-KR" altLang="en-US" sz="1000" b="0" i="0" dirty="0">
                  <a:solidFill>
                    <a:schemeClr val="tx1"/>
                  </a:solidFill>
                  <a:effectLst/>
                  <a:latin typeface="-apple-system"/>
                </a:rPr>
                <a:t> </a:t>
              </a:r>
              <a:r>
                <a:rPr lang="en-US" altLang="ko-KR" sz="1000" b="0" i="0" dirty="0">
                  <a:solidFill>
                    <a:schemeClr val="tx1"/>
                  </a:solidFill>
                  <a:effectLst/>
                  <a:latin typeface="-apple-system"/>
                </a:rPr>
                <a:t>Google Sheets </a:t>
              </a:r>
              <a:r>
                <a:rPr lang="ko-KR" altLang="en-US" sz="1000" b="0" i="0" dirty="0">
                  <a:solidFill>
                    <a:schemeClr val="tx1"/>
                  </a:solidFill>
                  <a:effectLst/>
                  <a:latin typeface="-apple-system"/>
                </a:rPr>
                <a:t>또는 </a:t>
              </a:r>
              <a:r>
                <a:rPr lang="en-US" altLang="ko-KR" sz="1000" b="0" i="0" dirty="0">
                  <a:solidFill>
                    <a:schemeClr val="tx1"/>
                  </a:solidFill>
                  <a:effectLst/>
                  <a:latin typeface="-apple-system"/>
                </a:rPr>
                <a:t>Excel, </a:t>
              </a:r>
              <a:r>
                <a:rPr lang="en-US" altLang="ko-KR" sz="1000" b="0" i="0" dirty="0" err="1">
                  <a:solidFill>
                    <a:schemeClr val="tx1"/>
                  </a:solidFill>
                  <a:effectLst/>
                  <a:latin typeface="-apple-system"/>
                </a:rPr>
                <a:t>ChatGPT</a:t>
              </a:r>
              <a:r>
                <a:rPr lang="en-US" altLang="ko-KR" sz="1000" b="0" i="0" dirty="0">
                  <a:solidFill>
                    <a:schemeClr val="tx1"/>
                  </a:solidFill>
                  <a:effectLst/>
                  <a:latin typeface="-apple-system"/>
                </a:rPr>
                <a:t> </a:t>
              </a:r>
              <a:r>
                <a:rPr lang="ko-KR" altLang="en-US" sz="1000" b="0" i="0" dirty="0">
                  <a:solidFill>
                    <a:schemeClr val="tx1"/>
                  </a:solidFill>
                  <a:effectLst/>
                  <a:latin typeface="-apple-system"/>
                </a:rPr>
                <a:t>또는 학교 승인 생성형 </a:t>
              </a:r>
              <a:r>
                <a:rPr lang="en-US" altLang="ko-KR" sz="1000" b="0" i="0" dirty="0">
                  <a:solidFill>
                    <a:schemeClr val="tx1"/>
                  </a:solidFill>
                  <a:effectLst/>
                  <a:latin typeface="-apple-system"/>
                </a:rPr>
                <a:t>AI</a:t>
              </a:r>
              <a:br>
                <a:rPr lang="ko-KR" altLang="en-US" sz="1000" dirty="0">
                  <a:solidFill>
                    <a:schemeClr val="tx1"/>
                  </a:solidFill>
                </a:rPr>
              </a:br>
              <a:r>
                <a:rPr lang="ko-KR" altLang="en-US" sz="1000" b="1" i="0" dirty="0">
                  <a:solidFill>
                    <a:schemeClr val="tx1"/>
                  </a:solidFill>
                  <a:effectLst/>
                  <a:latin typeface="-apple-system"/>
                </a:rPr>
                <a:t>역할</a:t>
              </a:r>
              <a:r>
                <a:rPr lang="en-US" altLang="ko-KR" sz="1000" b="1" i="0" dirty="0">
                  <a:solidFill>
                    <a:schemeClr val="tx1"/>
                  </a:solidFill>
                  <a:effectLst/>
                  <a:latin typeface="-apple-system"/>
                </a:rPr>
                <a:t>:</a:t>
              </a:r>
              <a:r>
                <a:rPr lang="ko-KR" altLang="en-US" sz="1000" b="0" i="0" dirty="0">
                  <a:solidFill>
                    <a:schemeClr val="tx1"/>
                  </a:solidFill>
                  <a:effectLst/>
                  <a:latin typeface="-apple-system"/>
                </a:rPr>
                <a:t> 신뢰구간 계산</a:t>
              </a:r>
              <a:r>
                <a:rPr lang="en-US" altLang="ko-KR" sz="1000" b="0" i="0" dirty="0">
                  <a:solidFill>
                    <a:schemeClr val="tx1"/>
                  </a:solidFill>
                  <a:effectLst/>
                  <a:latin typeface="-apple-system"/>
                </a:rPr>
                <a:t>, </a:t>
              </a:r>
              <a:r>
                <a:rPr lang="ko-KR" altLang="en-US" sz="1000" b="0" i="0" dirty="0">
                  <a:solidFill>
                    <a:schemeClr val="tx1"/>
                  </a:solidFill>
                  <a:effectLst/>
                  <a:latin typeface="-apple-system"/>
                </a:rPr>
                <a:t>해석 후보 생성</a:t>
              </a:r>
              <a:r>
                <a:rPr lang="en-US" altLang="ko-KR" sz="1000" b="0" i="0" dirty="0">
                  <a:solidFill>
                    <a:schemeClr val="tx1"/>
                  </a:solidFill>
                  <a:effectLst/>
                  <a:latin typeface="-apple-system"/>
                </a:rPr>
                <a:t>, AI </a:t>
              </a:r>
              <a:r>
                <a:rPr lang="ko-KR" altLang="en-US" sz="1000" b="0" i="0" dirty="0">
                  <a:solidFill>
                    <a:schemeClr val="tx1"/>
                  </a:solidFill>
                  <a:effectLst/>
                  <a:latin typeface="-apple-system"/>
                </a:rPr>
                <a:t>답변의 비판적 검증</a:t>
              </a:r>
              <a:endParaRPr sz="8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890" name="Google Shape;890;p48"/>
            <p:cNvGrpSpPr/>
            <p:nvPr/>
          </p:nvGrpSpPr>
          <p:grpSpPr>
            <a:xfrm>
              <a:off x="6554835" y="2366460"/>
              <a:ext cx="2391515" cy="1384752"/>
              <a:chOff x="2194109" y="4892041"/>
              <a:chExt cx="1381500" cy="1384752"/>
            </a:xfrm>
          </p:grpSpPr>
          <p:sp>
            <p:nvSpPr>
              <p:cNvPr id="891" name="Google Shape;891;p48"/>
              <p:cNvSpPr/>
              <p:nvPr/>
            </p:nvSpPr>
            <p:spPr>
              <a:xfrm>
                <a:off x="2194109" y="5023393"/>
                <a:ext cx="1381500" cy="1253400"/>
              </a:xfrm>
              <a:prstGeom prst="roundRect">
                <a:avLst>
                  <a:gd name="adj" fmla="val 2794"/>
                </a:avLst>
              </a:prstGeom>
              <a:solidFill>
                <a:schemeClr val="lt1"/>
              </a:solidFill>
              <a:ln w="19050" cap="flat" cmpd="sng">
                <a:solidFill>
                  <a:srgbClr val="FFC00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0" tIns="144000" rIns="0" bIns="0" anchor="t" anchorCtr="0">
                <a:noAutofit/>
              </a:bodyPr>
              <a:lstStyle/>
              <a:p>
                <a:pPr algn="l"/>
                <a:r>
                  <a:rPr lang="en-US" altLang="ko-KR" sz="1000" b="1" i="0" dirty="0">
                    <a:solidFill>
                      <a:schemeClr val="tx1"/>
                    </a:solidFill>
                    <a:effectLst/>
                    <a:latin typeface="-apple-system"/>
                  </a:rPr>
                  <a:t>AI</a:t>
                </a:r>
                <a:r>
                  <a:rPr lang="ko-KR" altLang="en-US" sz="1000" b="1" i="0" dirty="0">
                    <a:solidFill>
                      <a:schemeClr val="tx1"/>
                    </a:solidFill>
                    <a:effectLst/>
                    <a:latin typeface="-apple-system"/>
                  </a:rPr>
                  <a:t>의 통계 해석 검증과 자문 수정</a:t>
                </a:r>
                <a:endParaRPr lang="ko-KR" altLang="en-US" sz="1000" b="0" i="0" dirty="0">
                  <a:solidFill>
                    <a:schemeClr val="tx1"/>
                  </a:solidFill>
                  <a:effectLst/>
                  <a:latin typeface="-apple-system"/>
                </a:endParaRPr>
              </a:p>
              <a:p>
                <a:pPr algn="l">
                  <a:buFont typeface="Arial" panose="020B0604020202020204" pitchFamily="34" charset="0"/>
                  <a:buChar char="•"/>
                </a:pPr>
                <a:r>
                  <a:rPr lang="en-US" altLang="ko-KR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AI</a:t>
                </a: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의 신뢰구간 해석과 자신의 계산 비교</a:t>
                </a:r>
              </a:p>
              <a:p>
                <a:pPr algn="l">
                  <a:buFont typeface="Arial" panose="020B0604020202020204" pitchFamily="34" charset="0"/>
                  <a:buChar char="•"/>
                </a:pPr>
                <a:r>
                  <a:rPr lang="en-US" altLang="ko-KR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AI </a:t>
                </a: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답변의 오류와 과잉 해석 검증</a:t>
                </a:r>
              </a:p>
              <a:p>
                <a:pPr algn="l">
                  <a:buFont typeface="Arial" panose="020B0604020202020204" pitchFamily="34" charset="0"/>
                  <a:buChar char="•"/>
                </a:pPr>
                <a:r>
                  <a:rPr lang="en-US" altLang="ko-KR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AI </a:t>
                </a: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피드백을 수용</a:t>
                </a:r>
                <a:r>
                  <a:rPr lang="en-US" altLang="ko-KR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·</a:t>
                </a: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거절하고 이유 기록</a:t>
                </a:r>
              </a:p>
              <a:p>
                <a:pPr algn="l">
                  <a:buFont typeface="Arial" panose="020B0604020202020204" pitchFamily="34" charset="0"/>
                  <a:buChar char="•"/>
                </a:pP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근거와 한계를 포함한 조건부 권고 수정</a:t>
                </a:r>
              </a:p>
              <a:p>
                <a:pPr marL="0" lvl="0" indent="0" algn="l" rtl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endParaRPr lang="ko-KR" altLang="en-US" sz="1000" dirty="0">
                  <a:solidFill>
                    <a:schemeClr val="tx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892" name="Google Shape;892;p48"/>
              <p:cNvSpPr/>
              <p:nvPr/>
            </p:nvSpPr>
            <p:spPr>
              <a:xfrm>
                <a:off x="2274652" y="4892041"/>
                <a:ext cx="1221900" cy="212400"/>
              </a:xfrm>
              <a:prstGeom prst="roundRect">
                <a:avLst>
                  <a:gd name="adj" fmla="val 50000"/>
                </a:avLst>
              </a:prstGeom>
              <a:solidFill>
                <a:srgbClr val="FFC00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000" b="1" i="0" u="none" strike="noStrike" cap="none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4차시</a:t>
                </a:r>
                <a:endParaRPr sz="1000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893" name="Google Shape;893;p48"/>
          <p:cNvSpPr txBox="1"/>
          <p:nvPr/>
        </p:nvSpPr>
        <p:spPr>
          <a:xfrm>
            <a:off x="11575375" y="6442844"/>
            <a:ext cx="3078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i="0" u="none" strike="noStrike" cap="none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시간</a:t>
            </a:r>
            <a:endParaRPr>
              <a:solidFill>
                <a:schemeClr val="tx1"/>
              </a:solidFill>
            </a:endParaRPr>
          </a:p>
        </p:txBody>
      </p:sp>
      <p:grpSp>
        <p:nvGrpSpPr>
          <p:cNvPr id="894" name="Google Shape;894;p48"/>
          <p:cNvGrpSpPr/>
          <p:nvPr/>
        </p:nvGrpSpPr>
        <p:grpSpPr>
          <a:xfrm>
            <a:off x="5394350" y="1553266"/>
            <a:ext cx="1844955" cy="3430781"/>
            <a:chOff x="3730231" y="557303"/>
            <a:chExt cx="2391697" cy="3430781"/>
          </a:xfrm>
        </p:grpSpPr>
        <p:sp>
          <p:nvSpPr>
            <p:cNvPr id="895" name="Google Shape;895;p48"/>
            <p:cNvSpPr/>
            <p:nvPr/>
          </p:nvSpPr>
          <p:spPr>
            <a:xfrm>
              <a:off x="3730328" y="2304184"/>
              <a:ext cx="2391600" cy="1683900"/>
            </a:xfrm>
            <a:prstGeom prst="roundRect">
              <a:avLst>
                <a:gd name="adj" fmla="val 6381"/>
              </a:avLst>
            </a:prstGeom>
            <a:solidFill>
              <a:srgbClr val="E1F7FF"/>
            </a:solidFill>
            <a:ln w="12700" cap="flat" cmpd="sng">
              <a:solidFill>
                <a:srgbClr val="00B0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85725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1000" b="1" i="0" dirty="0">
                  <a:solidFill>
                    <a:schemeClr val="tx1"/>
                  </a:solidFill>
                  <a:effectLst/>
                  <a:latin typeface="-apple-system"/>
                </a:rPr>
                <a:t>도구</a:t>
              </a:r>
              <a:r>
                <a:rPr lang="en-US" altLang="ko-KR" sz="1000" b="1" i="0" dirty="0">
                  <a:solidFill>
                    <a:schemeClr val="tx1"/>
                  </a:solidFill>
                  <a:effectLst/>
                  <a:latin typeface="-apple-system"/>
                </a:rPr>
                <a:t>:</a:t>
              </a:r>
              <a:r>
                <a:rPr lang="ko-KR" altLang="en-US" sz="1000" b="0" i="0" dirty="0">
                  <a:solidFill>
                    <a:schemeClr val="tx1"/>
                  </a:solidFill>
                  <a:effectLst/>
                  <a:latin typeface="-apple-system"/>
                </a:rPr>
                <a:t> </a:t>
              </a:r>
              <a:r>
                <a:rPr lang="en-US" altLang="ko-KR" sz="1000" b="0" i="0" dirty="0">
                  <a:solidFill>
                    <a:schemeClr val="tx1"/>
                  </a:solidFill>
                  <a:effectLst/>
                  <a:latin typeface="-apple-system"/>
                </a:rPr>
                <a:t>Google Sheets </a:t>
              </a:r>
              <a:r>
                <a:rPr lang="ko-KR" altLang="en-US" sz="1000" b="0" i="0" dirty="0">
                  <a:solidFill>
                    <a:schemeClr val="tx1"/>
                  </a:solidFill>
                  <a:effectLst/>
                  <a:latin typeface="-apple-system"/>
                </a:rPr>
                <a:t>또는 </a:t>
              </a:r>
              <a:r>
                <a:rPr lang="en-US" altLang="ko-KR" sz="1000" b="0" i="0" dirty="0">
                  <a:solidFill>
                    <a:schemeClr val="tx1"/>
                  </a:solidFill>
                  <a:effectLst/>
                  <a:latin typeface="-apple-system"/>
                </a:rPr>
                <a:t>Excel</a:t>
              </a:r>
              <a:br>
                <a:rPr lang="ko-KR" altLang="en-US" sz="1000" dirty="0">
                  <a:solidFill>
                    <a:schemeClr val="tx1"/>
                  </a:solidFill>
                </a:rPr>
              </a:br>
              <a:r>
                <a:rPr lang="ko-KR" altLang="en-US" sz="1000" b="1" i="0" dirty="0">
                  <a:solidFill>
                    <a:schemeClr val="tx1"/>
                  </a:solidFill>
                  <a:effectLst/>
                  <a:latin typeface="-apple-system"/>
                </a:rPr>
                <a:t>역할</a:t>
              </a:r>
              <a:r>
                <a:rPr lang="en-US" altLang="ko-KR" sz="1000" b="1" i="0" dirty="0">
                  <a:solidFill>
                    <a:schemeClr val="tx1"/>
                  </a:solidFill>
                  <a:effectLst/>
                  <a:latin typeface="-apple-system"/>
                </a:rPr>
                <a:t>:</a:t>
              </a:r>
              <a:r>
                <a:rPr lang="ko-KR" altLang="en-US" sz="1000" b="0" i="0" dirty="0">
                  <a:solidFill>
                    <a:schemeClr val="tx1"/>
                  </a:solidFill>
                  <a:effectLst/>
                  <a:latin typeface="-apple-system"/>
                </a:rPr>
                <a:t> 표본자료를 정리하고 신뢰구간을 계산</a:t>
              </a:r>
              <a:r>
                <a:rPr lang="en-US" altLang="ko-KR" sz="1000" b="0" i="0" dirty="0">
                  <a:solidFill>
                    <a:schemeClr val="tx1"/>
                  </a:solidFill>
                  <a:effectLst/>
                  <a:latin typeface="-apple-system"/>
                </a:rPr>
                <a:t>·</a:t>
              </a:r>
              <a:r>
                <a:rPr lang="ko-KR" altLang="en-US" sz="1000" b="0" i="0" dirty="0" err="1">
                  <a:solidFill>
                    <a:schemeClr val="tx1"/>
                  </a:solidFill>
                  <a:effectLst/>
                  <a:latin typeface="-apple-system"/>
                </a:rPr>
                <a:t>시각화함</a:t>
              </a:r>
              <a:endParaRPr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896" name="Google Shape;896;p48"/>
            <p:cNvGrpSpPr/>
            <p:nvPr/>
          </p:nvGrpSpPr>
          <p:grpSpPr>
            <a:xfrm>
              <a:off x="3730231" y="557303"/>
              <a:ext cx="2391515" cy="1332837"/>
              <a:chOff x="2194116" y="4898948"/>
              <a:chExt cx="1381500" cy="1332837"/>
            </a:xfrm>
          </p:grpSpPr>
          <p:sp>
            <p:nvSpPr>
              <p:cNvPr id="897" name="Google Shape;897;p48"/>
              <p:cNvSpPr/>
              <p:nvPr/>
            </p:nvSpPr>
            <p:spPr>
              <a:xfrm>
                <a:off x="2194116" y="5023385"/>
                <a:ext cx="1381500" cy="1208400"/>
              </a:xfrm>
              <a:prstGeom prst="roundRect">
                <a:avLst>
                  <a:gd name="adj" fmla="val 2443"/>
                </a:avLst>
              </a:prstGeom>
              <a:solidFill>
                <a:schemeClr val="lt1"/>
              </a:solidFill>
              <a:ln w="19050" cap="flat" cmpd="sng">
                <a:solidFill>
                  <a:srgbClr val="00B0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0" tIns="144000" rIns="0" bIns="0" anchor="t" anchorCtr="0">
                <a:noAutofit/>
              </a:bodyPr>
              <a:lstStyle/>
              <a:p>
                <a:pPr algn="l"/>
                <a:r>
                  <a:rPr lang="ko-KR" altLang="en-US" sz="1000" b="1" i="0" dirty="0">
                    <a:solidFill>
                      <a:schemeClr val="tx1"/>
                    </a:solidFill>
                    <a:effectLst/>
                    <a:latin typeface="-apple-system"/>
                  </a:rPr>
                  <a:t>모비율의 </a:t>
                </a:r>
                <a:r>
                  <a:rPr lang="en-US" altLang="ko-KR" sz="1000" b="1" i="0" dirty="0">
                    <a:solidFill>
                      <a:schemeClr val="tx1"/>
                    </a:solidFill>
                    <a:effectLst/>
                    <a:latin typeface="-apple-system"/>
                  </a:rPr>
                  <a:t>95% </a:t>
                </a:r>
                <a:r>
                  <a:rPr lang="ko-KR" altLang="en-US" sz="1000" b="1" i="0" dirty="0">
                    <a:solidFill>
                      <a:schemeClr val="tx1"/>
                    </a:solidFill>
                    <a:effectLst/>
                    <a:latin typeface="-apple-system"/>
                  </a:rPr>
                  <a:t>신뢰구간 추정</a:t>
                </a:r>
                <a:endParaRPr lang="ko-KR" altLang="en-US" sz="1000" b="0" i="0" dirty="0">
                  <a:solidFill>
                    <a:schemeClr val="tx1"/>
                  </a:solidFill>
                  <a:effectLst/>
                  <a:latin typeface="-apple-system"/>
                </a:endParaRPr>
              </a:p>
              <a:p>
                <a:pPr algn="l">
                  <a:buFont typeface="Arial" panose="020B0604020202020204" pitchFamily="34" charset="0"/>
                  <a:buChar char="•"/>
                </a:pP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유효 표본 수와 표본비율 확인</a:t>
                </a:r>
              </a:p>
              <a:p>
                <a:pPr algn="l">
                  <a:buFont typeface="Arial" panose="020B0604020202020204" pitchFamily="34" charset="0"/>
                  <a:buChar char="•"/>
                </a:pP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큰 표본 조건 점검</a:t>
                </a:r>
              </a:p>
              <a:p>
                <a:pPr algn="l">
                  <a:buFont typeface="Arial" panose="020B0604020202020204" pitchFamily="34" charset="0"/>
                  <a:buChar char="•"/>
                </a:pPr>
                <a:r>
                  <a:rPr lang="en-US" altLang="ko-KR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95% </a:t>
                </a: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신뢰구간 계산 및 시각화</a:t>
                </a:r>
              </a:p>
              <a:p>
                <a:pPr marL="0" lvl="0" indent="0" algn="l" rtl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endParaRPr sz="1000" dirty="0">
                  <a:solidFill>
                    <a:schemeClr val="tx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898" name="Google Shape;898;p48"/>
              <p:cNvSpPr/>
              <p:nvPr/>
            </p:nvSpPr>
            <p:spPr>
              <a:xfrm>
                <a:off x="2274652" y="4898948"/>
                <a:ext cx="1221900" cy="264300"/>
              </a:xfrm>
              <a:prstGeom prst="roundRect">
                <a:avLst>
                  <a:gd name="adj" fmla="val 50000"/>
                </a:avLst>
              </a:prstGeom>
              <a:solidFill>
                <a:srgbClr val="00B0F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000" b="1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3차시</a:t>
                </a:r>
                <a:endParaRPr sz="100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899" name="Google Shape;899;p48"/>
          <p:cNvGrpSpPr/>
          <p:nvPr/>
        </p:nvGrpSpPr>
        <p:grpSpPr>
          <a:xfrm>
            <a:off x="3150025" y="3364670"/>
            <a:ext cx="1844880" cy="3073528"/>
            <a:chOff x="3730195" y="550395"/>
            <a:chExt cx="2391600" cy="3073528"/>
          </a:xfrm>
        </p:grpSpPr>
        <p:sp>
          <p:nvSpPr>
            <p:cNvPr id="900" name="Google Shape;900;p48"/>
            <p:cNvSpPr/>
            <p:nvPr/>
          </p:nvSpPr>
          <p:spPr>
            <a:xfrm>
              <a:off x="3730195" y="2282023"/>
              <a:ext cx="2391600" cy="1341900"/>
            </a:xfrm>
            <a:prstGeom prst="roundRect">
              <a:avLst>
                <a:gd name="adj" fmla="val 6381"/>
              </a:avLst>
            </a:prstGeom>
            <a:solidFill>
              <a:srgbClr val="E0F8F6"/>
            </a:solidFill>
            <a:ln w="12700" cap="flat" cmpd="sng">
              <a:solidFill>
                <a:srgbClr val="29B6AA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85725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1000" b="1" i="0" dirty="0">
                  <a:solidFill>
                    <a:schemeClr val="tx1"/>
                  </a:solidFill>
                  <a:effectLst/>
                  <a:latin typeface="-apple-system"/>
                </a:rPr>
                <a:t>도구</a:t>
              </a:r>
              <a:r>
                <a:rPr lang="en-US" altLang="ko-KR" sz="1000" b="1" i="0" dirty="0">
                  <a:solidFill>
                    <a:schemeClr val="tx1"/>
                  </a:solidFill>
                  <a:effectLst/>
                  <a:latin typeface="-apple-system"/>
                </a:rPr>
                <a:t>:</a:t>
              </a:r>
              <a:r>
                <a:rPr lang="ko-KR" altLang="en-US" sz="1000" b="0" i="0" dirty="0">
                  <a:solidFill>
                    <a:schemeClr val="tx1"/>
                  </a:solidFill>
                  <a:effectLst/>
                  <a:latin typeface="-apple-system"/>
                </a:rPr>
                <a:t> </a:t>
              </a:r>
              <a:r>
                <a:rPr lang="en-US" altLang="ko-KR" sz="1000" b="0" i="0" dirty="0">
                  <a:solidFill>
                    <a:schemeClr val="tx1"/>
                  </a:solidFill>
                  <a:effectLst/>
                  <a:latin typeface="-apple-system"/>
                </a:rPr>
                <a:t>Google Forms, Google Sheets</a:t>
              </a:r>
              <a:br>
                <a:rPr lang="ko-KR" altLang="en-US" sz="1000" dirty="0">
                  <a:solidFill>
                    <a:schemeClr val="tx1"/>
                  </a:solidFill>
                </a:rPr>
              </a:br>
              <a:r>
                <a:rPr lang="ko-KR" altLang="en-US" sz="1000" b="1" i="0" dirty="0">
                  <a:solidFill>
                    <a:schemeClr val="tx1"/>
                  </a:solidFill>
                  <a:effectLst/>
                  <a:latin typeface="-apple-system"/>
                </a:rPr>
                <a:t>역할</a:t>
              </a:r>
              <a:r>
                <a:rPr lang="en-US" altLang="ko-KR" sz="1000" b="1" i="0" dirty="0">
                  <a:solidFill>
                    <a:schemeClr val="tx1"/>
                  </a:solidFill>
                  <a:effectLst/>
                  <a:latin typeface="-apple-system"/>
                </a:rPr>
                <a:t>:</a:t>
              </a:r>
              <a:r>
                <a:rPr lang="ko-KR" altLang="en-US" sz="1000" b="0" i="0" dirty="0">
                  <a:solidFill>
                    <a:schemeClr val="tx1"/>
                  </a:solidFill>
                  <a:effectLst/>
                  <a:latin typeface="-apple-system"/>
                </a:rPr>
                <a:t> 익명 설문을 구성하고 무작위 표본을 추출함</a:t>
              </a:r>
              <a:endParaRPr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901" name="Google Shape;901;p48"/>
            <p:cNvGrpSpPr/>
            <p:nvPr/>
          </p:nvGrpSpPr>
          <p:grpSpPr>
            <a:xfrm>
              <a:off x="3730227" y="550395"/>
              <a:ext cx="2391515" cy="1473253"/>
              <a:chOff x="2194114" y="4892040"/>
              <a:chExt cx="1381500" cy="1473253"/>
            </a:xfrm>
          </p:grpSpPr>
          <p:sp>
            <p:nvSpPr>
              <p:cNvPr id="878" name="Google Shape;878;p48"/>
              <p:cNvSpPr/>
              <p:nvPr/>
            </p:nvSpPr>
            <p:spPr>
              <a:xfrm>
                <a:off x="2194114" y="5023393"/>
                <a:ext cx="1381500" cy="1341900"/>
              </a:xfrm>
              <a:prstGeom prst="roundRect">
                <a:avLst>
                  <a:gd name="adj" fmla="val 2443"/>
                </a:avLst>
              </a:prstGeom>
              <a:solidFill>
                <a:schemeClr val="lt1"/>
              </a:solidFill>
              <a:ln w="19050" cap="flat" cmpd="sng">
                <a:solidFill>
                  <a:srgbClr val="29B6AA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0" tIns="144000" rIns="0" bIns="0" anchor="t" anchorCtr="0">
                <a:noAutofit/>
              </a:bodyPr>
              <a:lstStyle/>
              <a:p>
                <a:pPr algn="l"/>
                <a:r>
                  <a:rPr lang="ko-KR" altLang="en-US" sz="1000" b="1" i="0" dirty="0">
                    <a:solidFill>
                      <a:schemeClr val="tx1"/>
                    </a:solidFill>
                    <a:effectLst/>
                    <a:latin typeface="-apple-system"/>
                  </a:rPr>
                  <a:t>대표성 있는 표본조사 설계</a:t>
                </a:r>
                <a:endParaRPr lang="ko-KR" altLang="en-US" sz="1000" b="0" i="0" dirty="0">
                  <a:solidFill>
                    <a:schemeClr val="tx1"/>
                  </a:solidFill>
                  <a:effectLst/>
                  <a:latin typeface="-apple-system"/>
                </a:endParaRPr>
              </a:p>
              <a:p>
                <a:pPr algn="l">
                  <a:buFont typeface="Arial" panose="020B0604020202020204" pitchFamily="34" charset="0"/>
                  <a:buChar char="•"/>
                </a:pPr>
                <a:r>
                  <a:rPr lang="ko-KR" altLang="en-US" sz="1000" b="0" i="0" dirty="0" err="1">
                    <a:solidFill>
                      <a:schemeClr val="tx1"/>
                    </a:solidFill>
                    <a:effectLst/>
                    <a:latin typeface="-apple-system"/>
                  </a:rPr>
                  <a:t>단순임의추출의</a:t>
                </a: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 필요성 탐구</a:t>
                </a:r>
              </a:p>
              <a:p>
                <a:pPr algn="l">
                  <a:buFont typeface="Arial" panose="020B0604020202020204" pitchFamily="34" charset="0"/>
                  <a:buChar char="•"/>
                </a:pP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익명 설문 문항과 무응답 처리 원칙 설정</a:t>
                </a:r>
              </a:p>
              <a:p>
                <a:pPr algn="l">
                  <a:buFont typeface="Arial" panose="020B0604020202020204" pitchFamily="34" charset="0"/>
                  <a:buChar char="•"/>
                </a:pP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시범 제공 판단 기준 </a:t>
                </a:r>
                <a:r>
                  <a:rPr lang="en-US" altLang="ko-KR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60%</a:t>
                </a: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를 분석 전에 설정</a:t>
                </a:r>
              </a:p>
              <a:p>
                <a:pPr marL="0" lvl="0" indent="0" algn="l" rtl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endParaRPr sz="1000" dirty="0">
                  <a:solidFill>
                    <a:schemeClr val="tx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902" name="Google Shape;902;p48"/>
              <p:cNvSpPr/>
              <p:nvPr/>
            </p:nvSpPr>
            <p:spPr>
              <a:xfrm>
                <a:off x="2274652" y="4892040"/>
                <a:ext cx="1221900" cy="264300"/>
              </a:xfrm>
              <a:prstGeom prst="roundRect">
                <a:avLst>
                  <a:gd name="adj" fmla="val 50000"/>
                </a:avLst>
              </a:prstGeom>
              <a:solidFill>
                <a:srgbClr val="29B6A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000" b="1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2차시</a:t>
                </a:r>
                <a:endParaRPr sz="1000">
                  <a:solidFill>
                    <a:schemeClr val="tx1"/>
                  </a:solidFill>
                </a:endParaRPr>
              </a:p>
            </p:txBody>
          </p:sp>
        </p:grpSp>
      </p:grpSp>
      <p:cxnSp>
        <p:nvCxnSpPr>
          <p:cNvPr id="903" name="Google Shape;903;p48"/>
          <p:cNvCxnSpPr>
            <a:stCxn id="878" idx="3"/>
            <a:endCxn id="897" idx="1"/>
          </p:cNvCxnSpPr>
          <p:nvPr/>
        </p:nvCxnSpPr>
        <p:spPr>
          <a:xfrm rot="10800000" flipH="1">
            <a:off x="4994864" y="2281773"/>
            <a:ext cx="399600" cy="1885200"/>
          </a:xfrm>
          <a:prstGeom prst="bentConnector3">
            <a:avLst>
              <a:gd name="adj1" fmla="val 49986"/>
            </a:avLst>
          </a:prstGeom>
          <a:noFill/>
          <a:ln w="38100" cap="flat" cmpd="sng">
            <a:solidFill>
              <a:schemeClr val="dk1"/>
            </a:solidFill>
            <a:prstDash val="solid"/>
            <a:miter lim="8000"/>
            <a:headEnd type="none" w="sm" len="sm"/>
            <a:tailEnd type="triangle" w="med" len="med"/>
          </a:ln>
        </p:spPr>
      </p:cxnSp>
      <p:cxnSp>
        <p:nvCxnSpPr>
          <p:cNvPr id="904" name="Google Shape;904;p48"/>
          <p:cNvCxnSpPr>
            <a:stCxn id="897" idx="3"/>
            <a:endCxn id="891" idx="1"/>
          </p:cNvCxnSpPr>
          <p:nvPr/>
        </p:nvCxnSpPr>
        <p:spPr>
          <a:xfrm>
            <a:off x="7239164" y="2281903"/>
            <a:ext cx="399600" cy="197100"/>
          </a:xfrm>
          <a:prstGeom prst="bentConnector3">
            <a:avLst>
              <a:gd name="adj1" fmla="val 49995"/>
            </a:avLst>
          </a:prstGeom>
          <a:noFill/>
          <a:ln w="38100" cap="flat" cmpd="sng">
            <a:solidFill>
              <a:schemeClr val="dk1"/>
            </a:solidFill>
            <a:prstDash val="solid"/>
            <a:miter lim="8000"/>
            <a:headEnd type="none" w="sm" len="sm"/>
            <a:tailEnd type="triangle" w="med" len="med"/>
          </a:ln>
        </p:spPr>
      </p:cxnSp>
      <p:cxnSp>
        <p:nvCxnSpPr>
          <p:cNvPr id="905" name="Google Shape;905;p48"/>
          <p:cNvCxnSpPr>
            <a:stCxn id="891" idx="3"/>
            <a:endCxn id="886" idx="1"/>
          </p:cNvCxnSpPr>
          <p:nvPr/>
        </p:nvCxnSpPr>
        <p:spPr>
          <a:xfrm rot="10800000" flipH="1">
            <a:off x="9483539" y="957478"/>
            <a:ext cx="399600" cy="1521600"/>
          </a:xfrm>
          <a:prstGeom prst="bentConnector3">
            <a:avLst>
              <a:gd name="adj1" fmla="val 49998"/>
            </a:avLst>
          </a:prstGeom>
          <a:noFill/>
          <a:ln w="38100" cap="flat" cmpd="sng">
            <a:solidFill>
              <a:schemeClr val="dk1"/>
            </a:solidFill>
            <a:prstDash val="solid"/>
            <a:miter lim="8000"/>
            <a:headEnd type="none" w="sm" len="sm"/>
            <a:tailEnd type="triangle" w="med" len="med"/>
          </a:ln>
        </p:spPr>
      </p:cxnSp>
      <p:sp>
        <p:nvSpPr>
          <p:cNvPr id="906" name="Google Shape;906;p48"/>
          <p:cNvSpPr/>
          <p:nvPr/>
        </p:nvSpPr>
        <p:spPr>
          <a:xfrm>
            <a:off x="83891" y="139131"/>
            <a:ext cx="1610700" cy="3033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단원 교수·학습 설계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907" name="Google Shape;907;p48"/>
          <p:cNvSpPr txBox="1"/>
          <p:nvPr/>
        </p:nvSpPr>
        <p:spPr>
          <a:xfrm>
            <a:off x="140924" y="542805"/>
            <a:ext cx="6462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주도성</a:t>
            </a:r>
            <a:endParaRPr sz="1200" b="1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908" name="Google Shape;908;p48"/>
          <p:cNvGrpSpPr/>
          <p:nvPr/>
        </p:nvGrpSpPr>
        <p:grpSpPr>
          <a:xfrm>
            <a:off x="155329" y="2886124"/>
            <a:ext cx="461700" cy="833338"/>
            <a:chOff x="155329" y="2709955"/>
            <a:chExt cx="461700" cy="833338"/>
          </a:xfrm>
        </p:grpSpPr>
        <p:sp>
          <p:nvSpPr>
            <p:cNvPr id="909" name="Google Shape;909;p48"/>
            <p:cNvSpPr txBox="1"/>
            <p:nvPr/>
          </p:nvSpPr>
          <p:spPr>
            <a:xfrm>
              <a:off x="155329" y="3173993"/>
              <a:ext cx="461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 b="1">
                  <a:solidFill>
                    <a:schemeClr val="tx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안내된</a:t>
              </a:r>
              <a:endParaRPr sz="1200" b="1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 b="1">
                  <a:solidFill>
                    <a:schemeClr val="tx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탐구</a:t>
              </a:r>
              <a:endParaRPr>
                <a:solidFill>
                  <a:schemeClr val="tx1"/>
                </a:solidFill>
              </a:endParaRPr>
            </a:p>
          </p:txBody>
        </p:sp>
        <p:pic>
          <p:nvPicPr>
            <p:cNvPr id="910" name="Google Shape;910;p48"/>
            <p:cNvPicPr preferRelativeResize="0"/>
            <p:nvPr/>
          </p:nvPicPr>
          <p:blipFill rotWithShape="1">
            <a:blip r:embed="rId3">
              <a:alphaModFix/>
            </a:blip>
            <a:srcRect l="35942" r="31387" b="13450"/>
            <a:stretch/>
          </p:blipFill>
          <p:spPr>
            <a:xfrm>
              <a:off x="167020" y="2709955"/>
              <a:ext cx="438283" cy="46403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11" name="Google Shape;911;p48"/>
          <p:cNvGrpSpPr/>
          <p:nvPr/>
        </p:nvGrpSpPr>
        <p:grpSpPr>
          <a:xfrm>
            <a:off x="78385" y="4659758"/>
            <a:ext cx="615600" cy="835307"/>
            <a:chOff x="78385" y="4520008"/>
            <a:chExt cx="615600" cy="835307"/>
          </a:xfrm>
        </p:grpSpPr>
        <p:sp>
          <p:nvSpPr>
            <p:cNvPr id="912" name="Google Shape;912;p48"/>
            <p:cNvSpPr txBox="1"/>
            <p:nvPr/>
          </p:nvSpPr>
          <p:spPr>
            <a:xfrm>
              <a:off x="78385" y="4986015"/>
              <a:ext cx="615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 b="1">
                  <a:solidFill>
                    <a:schemeClr val="tx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구조화된</a:t>
              </a:r>
              <a:endParaRPr sz="1200" b="1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 b="1">
                  <a:solidFill>
                    <a:schemeClr val="tx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탐구</a:t>
              </a:r>
              <a:endParaRPr>
                <a:solidFill>
                  <a:schemeClr val="tx1"/>
                </a:solidFill>
              </a:endParaRPr>
            </a:p>
          </p:txBody>
        </p:sp>
        <p:pic>
          <p:nvPicPr>
            <p:cNvPr id="913" name="Google Shape;913;p48"/>
            <p:cNvPicPr preferRelativeResize="0"/>
            <p:nvPr/>
          </p:nvPicPr>
          <p:blipFill rotWithShape="1">
            <a:blip r:embed="rId4">
              <a:alphaModFix/>
            </a:blip>
            <a:srcRect l="74705" b="19309"/>
            <a:stretch/>
          </p:blipFill>
          <p:spPr>
            <a:xfrm>
              <a:off x="204528" y="4520008"/>
              <a:ext cx="381645" cy="45431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14" name="Google Shape;914;p48"/>
          <p:cNvGrpSpPr/>
          <p:nvPr/>
        </p:nvGrpSpPr>
        <p:grpSpPr>
          <a:xfrm>
            <a:off x="155329" y="1118686"/>
            <a:ext cx="483078" cy="846765"/>
            <a:chOff x="155329" y="934840"/>
            <a:chExt cx="483078" cy="846765"/>
          </a:xfrm>
        </p:grpSpPr>
        <p:sp>
          <p:nvSpPr>
            <p:cNvPr id="915" name="Google Shape;915;p48"/>
            <p:cNvSpPr txBox="1"/>
            <p:nvPr/>
          </p:nvSpPr>
          <p:spPr>
            <a:xfrm>
              <a:off x="155329" y="1412305"/>
              <a:ext cx="461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 b="1">
                  <a:solidFill>
                    <a:schemeClr val="tx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개방형</a:t>
              </a:r>
              <a:endParaRPr sz="1200" b="1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 b="1">
                  <a:solidFill>
                    <a:schemeClr val="tx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탐구</a:t>
              </a:r>
              <a:endParaRPr>
                <a:solidFill>
                  <a:schemeClr val="tx1"/>
                </a:solidFill>
              </a:endParaRPr>
            </a:p>
          </p:txBody>
        </p:sp>
        <p:pic>
          <p:nvPicPr>
            <p:cNvPr id="916" name="Google Shape;916;p48"/>
            <p:cNvPicPr preferRelativeResize="0"/>
            <p:nvPr/>
          </p:nvPicPr>
          <p:blipFill rotWithShape="1">
            <a:blip r:embed="rId3">
              <a:alphaModFix/>
            </a:blip>
            <a:srcRect l="-1049" r="65380" b="13450"/>
            <a:stretch/>
          </p:blipFill>
          <p:spPr>
            <a:xfrm>
              <a:off x="159905" y="934840"/>
              <a:ext cx="478502" cy="46403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2" name="Google Shape;922;p49"/>
          <p:cNvGrpSpPr/>
          <p:nvPr/>
        </p:nvGrpSpPr>
        <p:grpSpPr>
          <a:xfrm>
            <a:off x="260060" y="134638"/>
            <a:ext cx="11671761" cy="338700"/>
            <a:chOff x="260060" y="463574"/>
            <a:chExt cx="11671761" cy="338700"/>
          </a:xfrm>
        </p:grpSpPr>
        <p:sp>
          <p:nvSpPr>
            <p:cNvPr id="923" name="Google Shape;923;p49"/>
            <p:cNvSpPr txBox="1"/>
            <p:nvPr/>
          </p:nvSpPr>
          <p:spPr>
            <a:xfrm>
              <a:off x="260060" y="463574"/>
              <a:ext cx="1015200" cy="338700"/>
            </a:xfrm>
            <a:prstGeom prst="rect">
              <a:avLst/>
            </a:prstGeom>
            <a:solidFill>
              <a:srgbClr val="2E75B5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600" b="1" i="0" u="none" strike="noStrike" cap="non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별첨2</a:t>
              </a:r>
              <a:endParaRPr sz="1600" b="1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24" name="Google Shape;924;p49"/>
            <p:cNvSpPr txBox="1"/>
            <p:nvPr/>
          </p:nvSpPr>
          <p:spPr>
            <a:xfrm>
              <a:off x="1434521" y="463574"/>
              <a:ext cx="10497300" cy="3387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600" b="1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AI·디지털 도구 활용 </a:t>
              </a:r>
              <a:r>
                <a:rPr lang="ko-KR" sz="1600" b="1" i="0" u="none" strike="noStrike" cap="none">
                  <a:solidFill>
                    <a:srgbClr val="FF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차시</a:t>
              </a:r>
              <a:r>
                <a:rPr lang="ko-KR" sz="1600" b="1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교수·학습 설계안(양식)</a:t>
              </a:r>
              <a:endParaRPr sz="16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925" name="Google Shape;925;p49"/>
          <p:cNvSpPr/>
          <p:nvPr/>
        </p:nvSpPr>
        <p:spPr>
          <a:xfrm>
            <a:off x="3531765" y="673251"/>
            <a:ext cx="5128500" cy="353700"/>
          </a:xfrm>
          <a:prstGeom prst="roundRect">
            <a:avLst>
              <a:gd name="adj" fmla="val 50000"/>
            </a:avLst>
          </a:prstGeom>
          <a:solidFill>
            <a:srgbClr val="03A9F4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(  </a:t>
            </a:r>
            <a:r>
              <a:rPr lang="en-US" altLang="ko-KR" sz="1500" b="1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</a:t>
            </a:r>
            <a:r>
              <a:rPr lang="ko-KR" sz="1500" b="1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 )</a:t>
            </a:r>
            <a:r>
              <a:rPr lang="ko-KR" sz="1500" b="1" i="0" u="none" strike="noStrike" cap="none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과 </a:t>
            </a:r>
            <a:r>
              <a:rPr lang="ko-KR" sz="1500" b="1" i="0" u="none" strike="noStrike" cap="none" dirty="0" err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AI·디지털</a:t>
            </a:r>
            <a:r>
              <a:rPr lang="ko-KR" sz="1500" b="1" i="0" u="none" strike="noStrike" cap="none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 도구 활용 차시 </a:t>
            </a:r>
            <a:r>
              <a:rPr lang="ko-KR" sz="1500" b="1" i="0" u="none" strike="noStrike" cap="none" dirty="0" err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교수·학습설계안</a:t>
            </a:r>
            <a:endParaRPr sz="1500" b="1" i="0" u="none" strike="noStrike" cap="none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926" name="Google Shape;926;p49"/>
          <p:cNvGraphicFramePr/>
          <p:nvPr>
            <p:extLst>
              <p:ext uri="{D42A27DB-BD31-4B8C-83A1-F6EECF244321}">
                <p14:modId xmlns:p14="http://schemas.microsoft.com/office/powerpoint/2010/main" val="530494496"/>
              </p:ext>
            </p:extLst>
          </p:nvPr>
        </p:nvGraphicFramePr>
        <p:xfrm>
          <a:off x="248899" y="1176577"/>
          <a:ext cx="11694175" cy="2421830"/>
        </p:xfrm>
        <a:graphic>
          <a:graphicData uri="http://schemas.openxmlformats.org/drawingml/2006/table">
            <a:tbl>
              <a:tblPr firstRow="1" bandRow="1">
                <a:noFill/>
                <a:tableStyleId>{CC2AFC39-9312-4BDD-B99D-2AEC6354EE5F}</a:tableStyleId>
              </a:tblPr>
              <a:tblGrid>
                <a:gridCol w="843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9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84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4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51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1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3431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367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3048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67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1" u="none" strike="noStrike" cap="none" dirty="0" err="1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학교급</a:t>
                      </a:r>
                      <a:r>
                        <a:rPr lang="en-US" altLang="ko-KR" sz="11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학년-학기</a:t>
                      </a:r>
                      <a:endParaRPr sz="1100" dirty="0"/>
                    </a:p>
                  </a:txBody>
                  <a:tcPr marL="0" marR="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A9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고등학교 </a:t>
                      </a: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학년 </a:t>
                      </a: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학기</a:t>
                      </a:r>
                      <a:endParaRPr sz="1100" dirty="0"/>
                    </a:p>
                  </a:txBody>
                  <a:tcPr marL="90000" marR="90000" marT="45725" marB="45725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단원</a:t>
                      </a:r>
                      <a:endParaRPr sz="1100" dirty="0"/>
                    </a:p>
                  </a:txBody>
                  <a:tcPr marL="0" marR="0" marT="45725" marB="45725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A9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통계 </a:t>
                      </a: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― </a:t>
                      </a: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통계적 추정</a:t>
                      </a:r>
                      <a:endParaRPr sz="11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000" marR="90000" marT="45725" marB="45725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차시</a:t>
                      </a:r>
                      <a:endParaRPr sz="1100" dirty="0"/>
                    </a:p>
                  </a:txBody>
                  <a:tcPr marL="0" marR="0" marT="45725" marB="45725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A9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4/5</a:t>
                      </a: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차시</a:t>
                      </a:r>
                      <a:endParaRPr sz="1100" dirty="0"/>
                    </a:p>
                  </a:txBody>
                  <a:tcPr marL="90000" marR="90000" marT="45725" marB="45725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 u="none" strike="noStrike" cap="non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대상</a:t>
                      </a:r>
                      <a:endParaRPr sz="1100"/>
                    </a:p>
                  </a:txBody>
                  <a:tcPr marL="0" marR="0" marT="45725" marB="45725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A9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고등학교 </a:t>
                      </a: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학년</a:t>
                      </a:r>
                      <a:endParaRPr sz="1100" dirty="0"/>
                    </a:p>
                  </a:txBody>
                  <a:tcPr marL="90000" marR="90000" marT="45725" marB="45725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지도교사</a:t>
                      </a:r>
                      <a:endParaRPr sz="1100" dirty="0"/>
                    </a:p>
                  </a:txBody>
                  <a:tcPr marL="0" marR="0" marT="45725" marB="45725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A9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 u="none" strike="noStrike" cap="none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000" marR="90000" marT="45725" marB="45725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4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수업 주제</a:t>
                      </a:r>
                      <a:endParaRPr sz="1100" dirty="0"/>
                    </a:p>
                  </a:txBody>
                  <a:tcPr marL="0" marR="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A9F4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생성형 </a:t>
                      </a: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AI</a:t>
                      </a: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의 </a:t>
                      </a: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95% </a:t>
                      </a: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신뢰구간 해석을 검증하여 조건부 통계 자문 만들기</a:t>
                      </a:r>
                      <a:endParaRPr sz="1100" dirty="0"/>
                    </a:p>
                  </a:txBody>
                  <a:tcPr marL="90000" marR="90000" marT="45725" marB="45725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 u="none" strike="noStrike" cap="non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성취기준</a:t>
                      </a:r>
                      <a:endParaRPr sz="1100"/>
                    </a:p>
                  </a:txBody>
                  <a:tcPr marL="0" marR="0" marT="45725" marB="45725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A9F4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[12</a:t>
                      </a:r>
                      <a:r>
                        <a:rPr lang="ko-KR" altLang="en-US" sz="11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확통</a:t>
                      </a: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03-07] </a:t>
                      </a: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공학 도구를 이용하여 모평균 및 모비율을 추정하고 그 결과를 해석할 수 있다</a:t>
                      </a: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.</a:t>
                      </a:r>
                      <a:endParaRPr sz="1100" dirty="0"/>
                    </a:p>
                  </a:txBody>
                  <a:tcPr marL="90000" marR="90000" marT="45725" marB="45725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6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ko-KR" sz="1100" b="1" u="none" strike="noStrike" cap="non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탐구 질문</a:t>
                      </a:r>
                      <a:endParaRPr sz="1100" b="1" u="none" strike="noStrike" cap="non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0" marR="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A9F4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1587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AI</a:t>
                      </a: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의 통계 해석을 어떤 수학적 근거로 검증해야 할까</a:t>
                      </a: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?</a:t>
                      </a:r>
                      <a:endParaRPr sz="1100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000" marR="90000" marT="45725" marB="45725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 u="none" strike="noStrike" cap="non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AI</a:t>
                      </a:r>
                      <a:r>
                        <a:rPr lang="ko-KR" sz="1100" b="1" u="none" strike="noStrike" cap="none">
                          <a:solidFill>
                            <a:schemeClr val="lt1"/>
                          </a:solidFill>
                        </a:rPr>
                        <a:t>·</a:t>
                      </a:r>
                      <a:r>
                        <a:rPr lang="ko-KR" sz="1100" b="1" u="none" strike="noStrike" cap="non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디지털 도구</a:t>
                      </a:r>
                      <a:endParaRPr sz="1100"/>
                    </a:p>
                  </a:txBody>
                  <a:tcPr marL="0" marR="0" marT="45725" marB="45725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A9F4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Google Sheets </a:t>
                      </a: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또는 </a:t>
                      </a: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Excel, </a:t>
                      </a:r>
                      <a:r>
                        <a:rPr lang="en-US" altLang="ko-KR" sz="11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ChatGPT</a:t>
                      </a: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또는 학교 승인 생성형 </a:t>
                      </a: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AI, Padlet</a:t>
                      </a:r>
                      <a:endParaRPr sz="1100" dirty="0"/>
                    </a:p>
                  </a:txBody>
                  <a:tcPr marL="90000" marR="90000" marT="45725" marB="45725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4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ko-KR" sz="1100" b="1" u="none" strike="noStrike" cap="non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수업 의도</a:t>
                      </a:r>
                      <a:endParaRPr sz="1100" b="1" u="none" strike="noStrike" cap="non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0" marR="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A9F4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학생이 </a:t>
                      </a: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Sheets</a:t>
                      </a: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로 신뢰구간을 계산한 뒤 </a:t>
                      </a: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AI</a:t>
                      </a: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의 해석을 계산 결과와 교과 개념으로 검증한다</a:t>
                      </a: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. </a:t>
                      </a: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이어 </a:t>
                      </a: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AI</a:t>
                      </a: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의 비판 질문을 선택적으로 반영하여 근거와 한계를 갖춘 조건부 통계 자문을 자신의 언어로 완성한다</a:t>
                      </a: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.</a:t>
                      </a:r>
                      <a:endParaRPr sz="1100" b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000" marR="90000" marT="45725" marB="45725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 u="none" strike="noStrike" cap="non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학생 및 과제 분석</a:t>
                      </a:r>
                      <a:endParaRPr sz="1100"/>
                    </a:p>
                  </a:txBody>
                  <a:tcPr marL="90000" marR="9000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A9F4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학생은 자연스러운 </a:t>
                      </a: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AI </a:t>
                      </a: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문장을 정답으로 받아들이거나 신뢰구간을 잘못 해석할 수 있다</a:t>
                      </a: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. AI </a:t>
                      </a: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답변 검증표와 피드백 판단표를 제공하여 옳음</a:t>
                      </a: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·</a:t>
                      </a: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오류</a:t>
                      </a: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·</a:t>
                      </a: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확인 필요를 구분하고</a:t>
                      </a: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, AI </a:t>
                      </a: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제안의 수용</a:t>
                      </a: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·</a:t>
                      </a: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거절 이유를 기록하게 한다</a:t>
                      </a: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.</a:t>
                      </a:r>
                      <a:endParaRPr sz="1100" b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000" marR="9000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27" name="Google Shape;927;p49"/>
          <p:cNvGraphicFramePr/>
          <p:nvPr>
            <p:extLst>
              <p:ext uri="{D42A27DB-BD31-4B8C-83A1-F6EECF244321}">
                <p14:modId xmlns:p14="http://schemas.microsoft.com/office/powerpoint/2010/main" val="4098551413"/>
              </p:ext>
            </p:extLst>
          </p:nvPr>
        </p:nvGraphicFramePr>
        <p:xfrm>
          <a:off x="254085" y="4462851"/>
          <a:ext cx="8867625" cy="2289508"/>
        </p:xfrm>
        <a:graphic>
          <a:graphicData uri="http://schemas.openxmlformats.org/drawingml/2006/table">
            <a:tbl>
              <a:tblPr firstRow="1" bandRow="1">
                <a:noFill/>
                <a:tableStyleId>{A327CB27-3F5C-4547-81DB-43A206F6D8C2}</a:tableStyleId>
              </a:tblPr>
              <a:tblGrid>
                <a:gridCol w="467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92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92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925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397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6300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 u="none" strike="noStrike" cap="non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영역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A9F4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ko-KR" sz="1100" b="1" u="none" strike="noStrike" cap="non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평가요소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A9F4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 u="none" strike="noStrike" cap="non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피드백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A9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 u="none" strike="noStrike" cap="non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평가도구</a:t>
                      </a:r>
                      <a:endParaRPr sz="1100" b="1" u="none" strike="noStrike" cap="non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 u="none" strike="noStrike" cap="non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(방법)</a:t>
                      </a:r>
                      <a:endParaRPr sz="1100" b="1" u="none" strike="noStrike" cap="non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A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300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 u="none" strike="noStrike" cap="non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심화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A9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 u="none" strike="noStrike" cap="non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기본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A9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 u="none" strike="noStrike" cap="non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기초 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A9F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4500">
                <a:tc>
                  <a:txBody>
                    <a:bodyPr/>
                    <a:lstStyle/>
                    <a:p>
                      <a:r>
                        <a:rPr lang="ko-KR" altLang="en-US" sz="1050" dirty="0">
                          <a:effectLst/>
                        </a:rPr>
                        <a:t>인지적 차원</a:t>
                      </a:r>
                    </a:p>
                  </a:txBody>
                  <a:tcPr marL="54429" marR="54429" marT="27214" marB="27214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F3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>
                          <a:effectLst/>
                        </a:rPr>
                        <a:t>신뢰구간 해석 및 </a:t>
                      </a:r>
                      <a:r>
                        <a:rPr lang="en-US" altLang="ko-KR" sz="1050">
                          <a:effectLst/>
                        </a:rPr>
                        <a:t>AI </a:t>
                      </a:r>
                      <a:r>
                        <a:rPr lang="ko-KR" altLang="en-US" sz="1050">
                          <a:effectLst/>
                        </a:rPr>
                        <a:t>답변의 수학적 검증</a:t>
                      </a:r>
                    </a:p>
                  </a:txBody>
                  <a:tcPr marL="54429" marR="54429" marT="27214" marB="27214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F3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50">
                          <a:effectLst/>
                        </a:rPr>
                        <a:t>AI </a:t>
                      </a:r>
                      <a:r>
                        <a:rPr lang="ko-KR" altLang="en-US" sz="1050">
                          <a:effectLst/>
                        </a:rPr>
                        <a:t>답변의 오류를 계산</a:t>
                      </a:r>
                      <a:r>
                        <a:rPr lang="en-US" altLang="ko-KR" sz="1050">
                          <a:effectLst/>
                        </a:rPr>
                        <a:t>·</a:t>
                      </a:r>
                      <a:r>
                        <a:rPr lang="ko-KR" altLang="en-US" sz="1050">
                          <a:effectLst/>
                        </a:rPr>
                        <a:t>개념</a:t>
                      </a:r>
                      <a:r>
                        <a:rPr lang="en-US" altLang="ko-KR" sz="1050">
                          <a:effectLst/>
                        </a:rPr>
                        <a:t>·</a:t>
                      </a:r>
                      <a:r>
                        <a:rPr lang="ko-KR" altLang="en-US" sz="1050">
                          <a:effectLst/>
                        </a:rPr>
                        <a:t>판단 기준으로 정확히 검증하고 수정함</a:t>
                      </a:r>
                    </a:p>
                  </a:txBody>
                  <a:tcPr marL="54429" marR="54429" marT="27214" marB="27214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>
                          <a:effectLst/>
                        </a:rPr>
                        <a:t>핵심 오류를 찾고 신뢰구간을 맥락에 맞게 해석함</a:t>
                      </a:r>
                    </a:p>
                  </a:txBody>
                  <a:tcPr marL="54429" marR="54429" marT="27214" marB="27214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>
                          <a:effectLst/>
                        </a:rPr>
                        <a:t>안내를 받아 일부 오류를 찾고 의미를 부분적으로 설명함</a:t>
                      </a:r>
                    </a:p>
                  </a:txBody>
                  <a:tcPr marL="54429" marR="54429" marT="27214" marB="27214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50">
                          <a:effectLst/>
                        </a:rPr>
                        <a:t>AI </a:t>
                      </a:r>
                      <a:r>
                        <a:rPr lang="ko-KR" altLang="en-US" sz="1050">
                          <a:effectLst/>
                        </a:rPr>
                        <a:t>답변 검증지</a:t>
                      </a:r>
                      <a:r>
                        <a:rPr lang="en-US" altLang="ko-KR" sz="1050">
                          <a:effectLst/>
                        </a:rPr>
                        <a:t>, </a:t>
                      </a:r>
                      <a:r>
                        <a:rPr lang="ko-KR" altLang="en-US" sz="1050">
                          <a:effectLst/>
                        </a:rPr>
                        <a:t>구두 확인</a:t>
                      </a:r>
                    </a:p>
                  </a:txBody>
                  <a:tcPr marL="54429" marR="54429" marT="27214" marB="27214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4500">
                <a:tc>
                  <a:txBody>
                    <a:bodyPr/>
                    <a:lstStyle/>
                    <a:p>
                      <a:r>
                        <a:rPr lang="ko-KR" altLang="en-US" sz="1050">
                          <a:effectLst/>
                        </a:rPr>
                        <a:t>과정적 차원</a:t>
                      </a:r>
                    </a:p>
                  </a:txBody>
                  <a:tcPr marL="54429" marR="54429" marT="27214" marB="27214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B0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F3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>
                          <a:effectLst/>
                        </a:rPr>
                        <a:t>디지털 도구 활용 및 </a:t>
                      </a:r>
                      <a:r>
                        <a:rPr lang="en-US" altLang="ko-KR" sz="1050">
                          <a:effectLst/>
                        </a:rPr>
                        <a:t>AI </a:t>
                      </a:r>
                      <a:r>
                        <a:rPr lang="ko-KR" altLang="en-US" sz="1050">
                          <a:effectLst/>
                        </a:rPr>
                        <a:t>피드백 판단</a:t>
                      </a:r>
                    </a:p>
                  </a:txBody>
                  <a:tcPr marL="54429" marR="54429" marT="27214" marB="27214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B0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F3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 dirty="0" err="1">
                          <a:effectLst/>
                        </a:rPr>
                        <a:t>비식별</a:t>
                      </a:r>
                      <a:r>
                        <a:rPr lang="ko-KR" altLang="en-US" sz="1050" dirty="0">
                          <a:effectLst/>
                        </a:rPr>
                        <a:t> </a:t>
                      </a:r>
                      <a:r>
                        <a:rPr lang="ko-KR" altLang="en-US" sz="1050" dirty="0" err="1">
                          <a:effectLst/>
                        </a:rPr>
                        <a:t>요약값을</a:t>
                      </a:r>
                      <a:r>
                        <a:rPr lang="ko-KR" altLang="en-US" sz="1050" dirty="0">
                          <a:effectLst/>
                        </a:rPr>
                        <a:t> 사용하고 계산을 교차 검산하며 </a:t>
                      </a:r>
                      <a:r>
                        <a:rPr lang="en-US" altLang="ko-KR" sz="1050" dirty="0">
                          <a:effectLst/>
                        </a:rPr>
                        <a:t>AI </a:t>
                      </a:r>
                      <a:r>
                        <a:rPr lang="ko-KR" altLang="en-US" sz="1050" dirty="0">
                          <a:effectLst/>
                        </a:rPr>
                        <a:t>제안의 수용</a:t>
                      </a:r>
                      <a:r>
                        <a:rPr lang="en-US" altLang="ko-KR" sz="1050" dirty="0">
                          <a:effectLst/>
                        </a:rPr>
                        <a:t>·</a:t>
                      </a:r>
                      <a:r>
                        <a:rPr lang="ko-KR" altLang="en-US" sz="1050" dirty="0">
                          <a:effectLst/>
                        </a:rPr>
                        <a:t>거절을 근거와 함께 기록함</a:t>
                      </a:r>
                    </a:p>
                  </a:txBody>
                  <a:tcPr marL="54429" marR="54429" marT="27214" marB="27214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B0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 dirty="0">
                          <a:effectLst/>
                        </a:rPr>
                        <a:t>계산 결과와 </a:t>
                      </a:r>
                      <a:r>
                        <a:rPr lang="en-US" altLang="ko-KR" sz="1050" dirty="0">
                          <a:effectLst/>
                        </a:rPr>
                        <a:t>AI </a:t>
                      </a:r>
                      <a:r>
                        <a:rPr lang="ko-KR" altLang="en-US" sz="1050" dirty="0">
                          <a:effectLst/>
                        </a:rPr>
                        <a:t>답변을 비교하고 피드백 판단 이유를 기록함</a:t>
                      </a:r>
                    </a:p>
                  </a:txBody>
                  <a:tcPr marL="54429" marR="54429" marT="27214" marB="27214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B0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 dirty="0">
                          <a:effectLst/>
                        </a:rPr>
                        <a:t>안내에 따라 도구를 사용하고 판단 과정을 부분적으로 기록함</a:t>
                      </a:r>
                    </a:p>
                  </a:txBody>
                  <a:tcPr marL="54429" marR="54429" marT="27214" marB="27214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B0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50" dirty="0">
                          <a:effectLst/>
                        </a:rPr>
                        <a:t>Sheets </a:t>
                      </a:r>
                      <a:r>
                        <a:rPr lang="ko-KR" altLang="en-US" sz="1050" dirty="0">
                          <a:effectLst/>
                        </a:rPr>
                        <a:t>파일</a:t>
                      </a:r>
                      <a:r>
                        <a:rPr lang="en-US" altLang="ko-KR" sz="1050" dirty="0">
                          <a:effectLst/>
                        </a:rPr>
                        <a:t>, </a:t>
                      </a:r>
                      <a:r>
                        <a:rPr lang="ko-KR" altLang="en-US" sz="1050" dirty="0">
                          <a:effectLst/>
                        </a:rPr>
                        <a:t>프롬프트</a:t>
                      </a:r>
                      <a:r>
                        <a:rPr lang="en-US" altLang="ko-KR" sz="1050" dirty="0">
                          <a:effectLst/>
                        </a:rPr>
                        <a:t>·</a:t>
                      </a:r>
                      <a:r>
                        <a:rPr lang="ko-KR" altLang="en-US" sz="1050" dirty="0">
                          <a:effectLst/>
                        </a:rPr>
                        <a:t>판단 기록</a:t>
                      </a:r>
                    </a:p>
                  </a:txBody>
                  <a:tcPr marL="54429" marR="54429" marT="27214" marB="27214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B0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4500">
                <a:tc>
                  <a:txBody>
                    <a:bodyPr/>
                    <a:lstStyle/>
                    <a:p>
                      <a:r>
                        <a:rPr lang="ko-KR" altLang="en-US" sz="1050">
                          <a:effectLst/>
                        </a:rPr>
                        <a:t>소통</a:t>
                      </a:r>
                      <a:r>
                        <a:rPr lang="en-US" altLang="ko-KR" sz="1050">
                          <a:effectLst/>
                        </a:rPr>
                        <a:t>·</a:t>
                      </a:r>
                      <a:r>
                        <a:rPr lang="ko-KR" altLang="en-US" sz="1050">
                          <a:effectLst/>
                        </a:rPr>
                        <a:t>표현 차원</a:t>
                      </a:r>
                    </a:p>
                  </a:txBody>
                  <a:tcPr marL="54429" marR="54429" marT="27214" marB="27214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B0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F3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>
                          <a:effectLst/>
                        </a:rPr>
                        <a:t>근거와 한계가 있는 통계 자문 표현</a:t>
                      </a:r>
                    </a:p>
                  </a:txBody>
                  <a:tcPr marL="54429" marR="54429" marT="27214" marB="27214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B0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F3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>
                          <a:effectLst/>
                        </a:rPr>
                        <a:t>주장</a:t>
                      </a:r>
                      <a:r>
                        <a:rPr lang="en-US" altLang="ko-KR" sz="1050">
                          <a:effectLst/>
                        </a:rPr>
                        <a:t>·</a:t>
                      </a:r>
                      <a:r>
                        <a:rPr lang="ko-KR" altLang="en-US" sz="1050">
                          <a:effectLst/>
                        </a:rPr>
                        <a:t>근거</a:t>
                      </a:r>
                      <a:r>
                        <a:rPr lang="en-US" altLang="ko-KR" sz="1050">
                          <a:effectLst/>
                        </a:rPr>
                        <a:t>·</a:t>
                      </a:r>
                      <a:r>
                        <a:rPr lang="ko-KR" altLang="en-US" sz="1050">
                          <a:effectLst/>
                        </a:rPr>
                        <a:t>해석</a:t>
                      </a:r>
                      <a:r>
                        <a:rPr lang="en-US" altLang="ko-KR" sz="1050">
                          <a:effectLst/>
                        </a:rPr>
                        <a:t>·</a:t>
                      </a:r>
                      <a:r>
                        <a:rPr lang="ko-KR" altLang="en-US" sz="1050">
                          <a:effectLst/>
                        </a:rPr>
                        <a:t>한계가 일치하고 </a:t>
                      </a:r>
                      <a:r>
                        <a:rPr lang="en-US" altLang="ko-KR" sz="1050">
                          <a:effectLst/>
                        </a:rPr>
                        <a:t>AI </a:t>
                      </a:r>
                      <a:r>
                        <a:rPr lang="ko-KR" altLang="en-US" sz="1050">
                          <a:effectLst/>
                        </a:rPr>
                        <a:t>제안과 자신의 판단을 명확히 구분함</a:t>
                      </a:r>
                    </a:p>
                  </a:txBody>
                  <a:tcPr marL="54429" marR="54429" marT="27214" marB="27214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B0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>
                          <a:effectLst/>
                        </a:rPr>
                        <a:t>통계적 근거와 결론을 연결하고 </a:t>
                      </a:r>
                      <a:r>
                        <a:rPr lang="en-US" altLang="ko-KR" sz="1050">
                          <a:effectLst/>
                        </a:rPr>
                        <a:t>AI </a:t>
                      </a:r>
                      <a:r>
                        <a:rPr lang="ko-KR" altLang="en-US" sz="1050">
                          <a:effectLst/>
                        </a:rPr>
                        <a:t>반영 여부와 주요 한계를 설명함</a:t>
                      </a:r>
                    </a:p>
                  </a:txBody>
                  <a:tcPr marL="54429" marR="54429" marT="27214" marB="27214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B0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>
                          <a:effectLst/>
                        </a:rPr>
                        <a:t>수치와 결론은 제시하나 근거 연결이나 한계 설명이 부족함</a:t>
                      </a:r>
                    </a:p>
                  </a:txBody>
                  <a:tcPr marL="54429" marR="54429" marT="27214" marB="27214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B0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 dirty="0">
                          <a:effectLst/>
                        </a:rPr>
                        <a:t>최종 자문</a:t>
                      </a:r>
                      <a:r>
                        <a:rPr lang="en-US" altLang="ko-KR" sz="1050" dirty="0">
                          <a:effectLst/>
                        </a:rPr>
                        <a:t>, Padlet, </a:t>
                      </a:r>
                      <a:r>
                        <a:rPr lang="ko-KR" altLang="en-US" sz="1050" dirty="0">
                          <a:effectLst/>
                        </a:rPr>
                        <a:t>출구 문항</a:t>
                      </a:r>
                    </a:p>
                  </a:txBody>
                  <a:tcPr marL="54429" marR="54429" marT="27214" marB="27214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B0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928" name="Google Shape;928;p49"/>
          <p:cNvGrpSpPr/>
          <p:nvPr/>
        </p:nvGrpSpPr>
        <p:grpSpPr>
          <a:xfrm>
            <a:off x="9219501" y="4394821"/>
            <a:ext cx="2723700" cy="2172814"/>
            <a:chOff x="9219501" y="3992953"/>
            <a:chExt cx="2723700" cy="2172814"/>
          </a:xfrm>
        </p:grpSpPr>
        <p:sp>
          <p:nvSpPr>
            <p:cNvPr id="929" name="Google Shape;929;p49"/>
            <p:cNvSpPr/>
            <p:nvPr/>
          </p:nvSpPr>
          <p:spPr>
            <a:xfrm>
              <a:off x="9219501" y="4188467"/>
              <a:ext cx="2723700" cy="1977300"/>
            </a:xfrm>
            <a:prstGeom prst="roundRect">
              <a:avLst>
                <a:gd name="adj" fmla="val 4677"/>
              </a:avLst>
            </a:prstGeom>
            <a:solidFill>
              <a:srgbClr val="E5EBF7"/>
            </a:solidFill>
            <a:ln w="19050" cap="flat" cmpd="sng">
              <a:solidFill>
                <a:srgbClr val="2F5597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54000" tIns="252000" rIns="54000" bIns="0" anchor="t" anchorCtr="0">
              <a:noAutofit/>
            </a:bodyPr>
            <a:lstStyle/>
            <a:p>
              <a:pPr marL="0" marR="0" lvl="0" indent="0" algn="l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30" name="Google Shape;930;p49"/>
            <p:cNvGrpSpPr/>
            <p:nvPr/>
          </p:nvGrpSpPr>
          <p:grpSpPr>
            <a:xfrm>
              <a:off x="9305762" y="3992953"/>
              <a:ext cx="2550930" cy="433172"/>
              <a:chOff x="9079160" y="6446689"/>
              <a:chExt cx="2550930" cy="433172"/>
            </a:xfrm>
          </p:grpSpPr>
          <p:sp>
            <p:nvSpPr>
              <p:cNvPr id="931" name="Google Shape;931;p49"/>
              <p:cNvSpPr/>
              <p:nvPr/>
            </p:nvSpPr>
            <p:spPr>
              <a:xfrm>
                <a:off x="9338690" y="6498067"/>
                <a:ext cx="2291400" cy="303300"/>
              </a:xfrm>
              <a:prstGeom prst="roundRect">
                <a:avLst>
                  <a:gd name="adj" fmla="val 50000"/>
                </a:avLst>
              </a:prstGeom>
              <a:solidFill>
                <a:srgbClr val="2F5597"/>
              </a:solidFill>
              <a:ln>
                <a:noFill/>
              </a:ln>
            </p:spPr>
            <p:txBody>
              <a:bodyPr spcFirstLastPara="1" wrap="square" lIns="144000" tIns="0" rIns="0" bIns="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100" b="1" i="0" u="none" strike="noStrike" cap="none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AI·디지털 도구 활용 유의사항</a:t>
                </a:r>
                <a:endParaRPr/>
              </a:p>
            </p:txBody>
          </p:sp>
          <p:pic>
            <p:nvPicPr>
              <p:cNvPr id="932" name="Google Shape;932;p49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 flipH="1">
                <a:off x="9079160" y="6446689"/>
                <a:ext cx="433174" cy="43317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933" name="Google Shape;933;p49"/>
          <p:cNvSpPr/>
          <p:nvPr/>
        </p:nvSpPr>
        <p:spPr>
          <a:xfrm>
            <a:off x="260060" y="4091543"/>
            <a:ext cx="1334700" cy="303300"/>
          </a:xfrm>
          <a:prstGeom prst="roundRect">
            <a:avLst>
              <a:gd name="adj" fmla="val 50000"/>
            </a:avLst>
          </a:prstGeom>
          <a:solidFill>
            <a:srgbClr val="2F559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과정 중심 평가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50"/>
          <p:cNvSpPr txBox="1"/>
          <p:nvPr/>
        </p:nvSpPr>
        <p:spPr>
          <a:xfrm>
            <a:off x="294812" y="660251"/>
            <a:ext cx="492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i="0" u="none" strike="noStrike" cap="none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학습</a:t>
            </a:r>
            <a:endParaRPr sz="1200" b="1" i="0" u="none" strike="noStrike" cap="none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i="0" u="none" strike="noStrike" cap="none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형태</a:t>
            </a:r>
            <a:endParaRPr>
              <a:solidFill>
                <a:schemeClr val="tx1"/>
              </a:solidFill>
            </a:endParaRPr>
          </a:p>
        </p:txBody>
      </p:sp>
      <p:grpSp>
        <p:nvGrpSpPr>
          <p:cNvPr id="941" name="Google Shape;941;p50"/>
          <p:cNvGrpSpPr/>
          <p:nvPr/>
        </p:nvGrpSpPr>
        <p:grpSpPr>
          <a:xfrm>
            <a:off x="745923" y="595886"/>
            <a:ext cx="11229528" cy="6090660"/>
            <a:chOff x="745923" y="3033212"/>
            <a:chExt cx="11229528" cy="3512694"/>
          </a:xfrm>
        </p:grpSpPr>
        <p:grpSp>
          <p:nvGrpSpPr>
            <p:cNvPr id="942" name="Google Shape;942;p50"/>
            <p:cNvGrpSpPr/>
            <p:nvPr/>
          </p:nvGrpSpPr>
          <p:grpSpPr>
            <a:xfrm>
              <a:off x="745923" y="3033212"/>
              <a:ext cx="11229528" cy="3512694"/>
              <a:chOff x="570454" y="1941446"/>
              <a:chExt cx="11434200" cy="4576800"/>
            </a:xfrm>
          </p:grpSpPr>
          <p:cxnSp>
            <p:nvCxnSpPr>
              <p:cNvPr id="943" name="Google Shape;943;p50"/>
              <p:cNvCxnSpPr/>
              <p:nvPr/>
            </p:nvCxnSpPr>
            <p:spPr>
              <a:xfrm>
                <a:off x="570454" y="6518246"/>
                <a:ext cx="11434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triangle" w="med" len="med"/>
              </a:ln>
            </p:spPr>
          </p:cxnSp>
          <p:cxnSp>
            <p:nvCxnSpPr>
              <p:cNvPr id="944" name="Google Shape;944;p50"/>
              <p:cNvCxnSpPr/>
              <p:nvPr/>
            </p:nvCxnSpPr>
            <p:spPr>
              <a:xfrm rot="10800000">
                <a:off x="570454" y="1941446"/>
                <a:ext cx="0" cy="4576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</p:cxnSp>
        </p:grpSp>
        <p:cxnSp>
          <p:nvCxnSpPr>
            <p:cNvPr id="945" name="Google Shape;945;p50"/>
            <p:cNvCxnSpPr/>
            <p:nvPr/>
          </p:nvCxnSpPr>
          <p:spPr>
            <a:xfrm rot="10800000" flipH="1">
              <a:off x="768353" y="3521105"/>
              <a:ext cx="11114700" cy="57900"/>
            </a:xfrm>
            <a:prstGeom prst="straightConnector1">
              <a:avLst/>
            </a:prstGeom>
            <a:noFill/>
            <a:ln w="22225" cap="rnd" cmpd="sng">
              <a:solidFill>
                <a:schemeClr val="dk1"/>
              </a:solidFill>
              <a:prstDash val="dot"/>
              <a:miter lim="8000"/>
              <a:headEnd type="none" w="sm" len="sm"/>
              <a:tailEnd type="none" w="sm" len="sm"/>
            </a:ln>
          </p:spPr>
        </p:cxnSp>
        <p:cxnSp>
          <p:nvCxnSpPr>
            <p:cNvPr id="946" name="Google Shape;946;p50"/>
            <p:cNvCxnSpPr/>
            <p:nvPr/>
          </p:nvCxnSpPr>
          <p:spPr>
            <a:xfrm>
              <a:off x="762000" y="4598507"/>
              <a:ext cx="11122500" cy="0"/>
            </a:xfrm>
            <a:prstGeom prst="straightConnector1">
              <a:avLst/>
            </a:prstGeom>
            <a:noFill/>
            <a:ln w="22225" cap="rnd" cmpd="sng">
              <a:solidFill>
                <a:schemeClr val="dk1"/>
              </a:solidFill>
              <a:prstDash val="dot"/>
              <a:miter lim="8000"/>
              <a:headEnd type="none" w="sm" len="sm"/>
              <a:tailEnd type="none" w="sm" len="sm"/>
            </a:ln>
          </p:spPr>
        </p:cxnSp>
        <p:cxnSp>
          <p:nvCxnSpPr>
            <p:cNvPr id="947" name="Google Shape;947;p50"/>
            <p:cNvCxnSpPr/>
            <p:nvPr/>
          </p:nvCxnSpPr>
          <p:spPr>
            <a:xfrm>
              <a:off x="768353" y="5618009"/>
              <a:ext cx="11114700" cy="0"/>
            </a:xfrm>
            <a:prstGeom prst="straightConnector1">
              <a:avLst/>
            </a:prstGeom>
            <a:noFill/>
            <a:ln w="22225" cap="rnd" cmpd="sng">
              <a:solidFill>
                <a:schemeClr val="dk1"/>
              </a:solidFill>
              <a:prstDash val="dot"/>
              <a:miter lim="8000"/>
              <a:headEnd type="none" w="sm" len="sm"/>
              <a:tailEnd type="none" w="sm" len="sm"/>
            </a:ln>
          </p:spPr>
        </p:cxnSp>
      </p:grpSp>
      <p:cxnSp>
        <p:nvCxnSpPr>
          <p:cNvPr id="948" name="Google Shape;948;p50"/>
          <p:cNvCxnSpPr>
            <a:cxnSpLocks/>
            <a:stCxn id="949" idx="3"/>
            <a:endCxn id="950" idx="1"/>
          </p:cNvCxnSpPr>
          <p:nvPr/>
        </p:nvCxnSpPr>
        <p:spPr>
          <a:xfrm>
            <a:off x="3389142" y="2681122"/>
            <a:ext cx="433100" cy="656736"/>
          </a:xfrm>
          <a:prstGeom prst="bentConnector3">
            <a:avLst>
              <a:gd name="adj1" fmla="val 50000"/>
            </a:avLst>
          </a:prstGeom>
          <a:noFill/>
          <a:ln w="38100" cap="flat" cmpd="sng">
            <a:solidFill>
              <a:schemeClr val="dk1"/>
            </a:solidFill>
            <a:prstDash val="solid"/>
            <a:miter lim="8000"/>
            <a:headEnd type="none" w="sm" len="sm"/>
            <a:tailEnd type="triangle" w="med" len="med"/>
          </a:ln>
        </p:spPr>
      </p:cxnSp>
      <p:cxnSp>
        <p:nvCxnSpPr>
          <p:cNvPr id="951" name="Google Shape;951;p50"/>
          <p:cNvCxnSpPr>
            <a:stCxn id="950" idx="3"/>
            <a:endCxn id="952" idx="1"/>
          </p:cNvCxnSpPr>
          <p:nvPr/>
        </p:nvCxnSpPr>
        <p:spPr>
          <a:xfrm rot="10800000" flipH="1">
            <a:off x="6213757" y="3325858"/>
            <a:ext cx="387000" cy="12000"/>
          </a:xfrm>
          <a:prstGeom prst="bentConnector3">
            <a:avLst>
              <a:gd name="adj1" fmla="val 49986"/>
            </a:avLst>
          </a:prstGeom>
          <a:noFill/>
          <a:ln w="38100" cap="flat" cmpd="sng">
            <a:solidFill>
              <a:schemeClr val="dk1"/>
            </a:solidFill>
            <a:prstDash val="solid"/>
            <a:miter lim="8000"/>
            <a:headEnd type="none" w="sm" len="sm"/>
            <a:tailEnd type="triangle" w="med" len="med"/>
          </a:ln>
        </p:spPr>
      </p:cxnSp>
      <p:cxnSp>
        <p:nvCxnSpPr>
          <p:cNvPr id="953" name="Google Shape;953;p50"/>
          <p:cNvCxnSpPr>
            <a:stCxn id="952" idx="3"/>
            <a:endCxn id="954" idx="1"/>
          </p:cNvCxnSpPr>
          <p:nvPr/>
        </p:nvCxnSpPr>
        <p:spPr>
          <a:xfrm rot="10800000" flipH="1">
            <a:off x="8992367" y="2019976"/>
            <a:ext cx="513000" cy="1305900"/>
          </a:xfrm>
          <a:prstGeom prst="bentConnector3">
            <a:avLst>
              <a:gd name="adj1" fmla="val 50000"/>
            </a:avLst>
          </a:prstGeom>
          <a:noFill/>
          <a:ln w="38100" cap="flat" cmpd="sng">
            <a:solidFill>
              <a:schemeClr val="dk1"/>
            </a:solidFill>
            <a:prstDash val="solid"/>
            <a:miter lim="8000"/>
            <a:headEnd type="none" w="sm" len="sm"/>
            <a:tailEnd type="triangle" w="med" len="med"/>
          </a:ln>
        </p:spPr>
      </p:cxnSp>
      <p:grpSp>
        <p:nvGrpSpPr>
          <p:cNvPr id="955" name="Google Shape;955;p50"/>
          <p:cNvGrpSpPr/>
          <p:nvPr/>
        </p:nvGrpSpPr>
        <p:grpSpPr>
          <a:xfrm>
            <a:off x="997627" y="625220"/>
            <a:ext cx="2391710" cy="4721305"/>
            <a:chOff x="905616" y="2552259"/>
            <a:chExt cx="2391710" cy="2810970"/>
          </a:xfrm>
        </p:grpSpPr>
        <p:sp>
          <p:nvSpPr>
            <p:cNvPr id="956" name="Google Shape;956;p50"/>
            <p:cNvSpPr/>
            <p:nvPr/>
          </p:nvSpPr>
          <p:spPr>
            <a:xfrm>
              <a:off x="905726" y="4945629"/>
              <a:ext cx="2391600" cy="417600"/>
            </a:xfrm>
            <a:prstGeom prst="roundRect">
              <a:avLst>
                <a:gd name="adj" fmla="val 6381"/>
              </a:avLst>
            </a:prstGeom>
            <a:solidFill>
              <a:srgbClr val="EEE5FF"/>
            </a:solidFill>
            <a:ln w="12700" cap="flat" cmpd="sng">
              <a:solidFill>
                <a:srgbClr val="9965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85725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1000" b="1" i="0" dirty="0">
                  <a:solidFill>
                    <a:schemeClr val="tx1"/>
                  </a:solidFill>
                  <a:effectLst/>
                  <a:latin typeface="-apple-system"/>
                </a:rPr>
                <a:t>도구</a:t>
              </a:r>
              <a:r>
                <a:rPr lang="en-US" altLang="ko-KR" sz="1000" b="1" i="0" dirty="0">
                  <a:solidFill>
                    <a:schemeClr val="tx1"/>
                  </a:solidFill>
                  <a:effectLst/>
                  <a:latin typeface="-apple-system"/>
                </a:rPr>
                <a:t>:</a:t>
              </a:r>
              <a:r>
                <a:rPr lang="ko-KR" altLang="en-US" sz="1000" b="0" i="0" dirty="0">
                  <a:solidFill>
                    <a:schemeClr val="tx1"/>
                  </a:solidFill>
                  <a:effectLst/>
                  <a:latin typeface="-apple-system"/>
                </a:rPr>
                <a:t> </a:t>
              </a:r>
              <a:r>
                <a:rPr lang="en-US" altLang="ko-KR" sz="1000" b="0" i="0" dirty="0">
                  <a:solidFill>
                    <a:schemeClr val="tx1"/>
                  </a:solidFill>
                  <a:effectLst/>
                  <a:latin typeface="-apple-system"/>
                </a:rPr>
                <a:t>Google Forms, </a:t>
              </a:r>
              <a:r>
                <a:rPr lang="ko-KR" altLang="en-US" sz="1000" b="0" i="0" dirty="0">
                  <a:solidFill>
                    <a:schemeClr val="tx1"/>
                  </a:solidFill>
                  <a:effectLst/>
                  <a:latin typeface="-apple-system"/>
                </a:rPr>
                <a:t>교사가 준비한 </a:t>
              </a:r>
              <a:r>
                <a:rPr lang="en-US" altLang="ko-KR" sz="1000" b="0" i="0" dirty="0">
                  <a:solidFill>
                    <a:schemeClr val="tx1"/>
                  </a:solidFill>
                  <a:effectLst/>
                  <a:latin typeface="-apple-system"/>
                </a:rPr>
                <a:t>AI </a:t>
              </a:r>
              <a:r>
                <a:rPr lang="ko-KR" altLang="en-US" sz="1000" b="0" i="0" dirty="0">
                  <a:solidFill>
                    <a:schemeClr val="tx1"/>
                  </a:solidFill>
                  <a:effectLst/>
                  <a:latin typeface="-apple-system"/>
                </a:rPr>
                <a:t>응답 화면</a:t>
              </a:r>
              <a:br>
                <a:rPr lang="ko-KR" altLang="en-US" sz="1000" dirty="0">
                  <a:solidFill>
                    <a:schemeClr val="tx1"/>
                  </a:solidFill>
                </a:rPr>
              </a:br>
              <a:r>
                <a:rPr lang="ko-KR" altLang="en-US" sz="1000" b="1" i="0" dirty="0">
                  <a:solidFill>
                    <a:schemeClr val="tx1"/>
                  </a:solidFill>
                  <a:effectLst/>
                  <a:latin typeface="-apple-system"/>
                </a:rPr>
                <a:t>역할</a:t>
              </a:r>
              <a:r>
                <a:rPr lang="en-US" altLang="ko-KR" sz="1000" b="1" i="0" dirty="0">
                  <a:solidFill>
                    <a:schemeClr val="tx1"/>
                  </a:solidFill>
                  <a:effectLst/>
                  <a:latin typeface="-apple-system"/>
                </a:rPr>
                <a:t>:</a:t>
              </a:r>
              <a:r>
                <a:rPr lang="ko-KR" altLang="en-US" sz="1000" b="0" i="0" dirty="0">
                  <a:solidFill>
                    <a:schemeClr val="tx1"/>
                  </a:solidFill>
                  <a:effectLst/>
                  <a:latin typeface="-apple-system"/>
                </a:rPr>
                <a:t> </a:t>
              </a:r>
              <a:r>
                <a:rPr lang="en-US" altLang="ko-KR" sz="1000" b="0" i="0" dirty="0">
                  <a:solidFill>
                    <a:schemeClr val="tx1"/>
                  </a:solidFill>
                  <a:effectLst/>
                  <a:latin typeface="-apple-system"/>
                </a:rPr>
                <a:t>AI </a:t>
              </a:r>
              <a:r>
                <a:rPr lang="ko-KR" altLang="en-US" sz="1000" b="0" i="0" dirty="0">
                  <a:solidFill>
                    <a:schemeClr val="tx1"/>
                  </a:solidFill>
                  <a:effectLst/>
                  <a:latin typeface="-apple-system"/>
                </a:rPr>
                <a:t>해석을 비교하여 선개념과 </a:t>
              </a:r>
              <a:r>
                <a:rPr lang="ko-KR" altLang="en-US" sz="1000" b="0" i="0" dirty="0" err="1">
                  <a:solidFill>
                    <a:schemeClr val="tx1"/>
                  </a:solidFill>
                  <a:effectLst/>
                  <a:latin typeface="-apple-system"/>
                </a:rPr>
                <a:t>오개념을</a:t>
              </a:r>
              <a:r>
                <a:rPr lang="ko-KR" altLang="en-US" sz="1000" b="0" i="0" dirty="0">
                  <a:solidFill>
                    <a:schemeClr val="tx1"/>
                  </a:solidFill>
                  <a:effectLst/>
                  <a:latin typeface="-apple-system"/>
                </a:rPr>
                <a:t> 확인함</a:t>
              </a:r>
              <a:endParaRPr sz="1000" dirty="0">
                <a:solidFill>
                  <a:schemeClr val="tx1"/>
                </a:solidFill>
              </a:endParaRPr>
            </a:p>
          </p:txBody>
        </p:sp>
        <p:grpSp>
          <p:nvGrpSpPr>
            <p:cNvPr id="957" name="Google Shape;957;p50"/>
            <p:cNvGrpSpPr/>
            <p:nvPr/>
          </p:nvGrpSpPr>
          <p:grpSpPr>
            <a:xfrm>
              <a:off x="905616" y="2552259"/>
              <a:ext cx="2391515" cy="2353226"/>
              <a:chOff x="2194117" y="4892041"/>
              <a:chExt cx="1381500" cy="2353226"/>
            </a:xfrm>
          </p:grpSpPr>
          <p:sp>
            <p:nvSpPr>
              <p:cNvPr id="949" name="Google Shape;949;p50"/>
              <p:cNvSpPr/>
              <p:nvPr/>
            </p:nvSpPr>
            <p:spPr>
              <a:xfrm>
                <a:off x="2194117" y="4986900"/>
                <a:ext cx="1381500" cy="2258367"/>
              </a:xfrm>
              <a:prstGeom prst="roundRect">
                <a:avLst>
                  <a:gd name="adj" fmla="val 3340"/>
                </a:avLst>
              </a:prstGeom>
              <a:solidFill>
                <a:schemeClr val="lt1"/>
              </a:solidFill>
              <a:ln w="19050" cap="flat" cmpd="sng">
                <a:solidFill>
                  <a:srgbClr val="9965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0" tIns="144000" rIns="0" bIns="0" anchor="t" anchorCtr="0">
                <a:noAutofit/>
              </a:bodyPr>
              <a:lstStyle/>
              <a:p>
                <a:pPr algn="l"/>
                <a:r>
                  <a:rPr lang="en-US" altLang="ko-KR" sz="1000" b="1" i="0" dirty="0">
                    <a:solidFill>
                      <a:schemeClr val="tx1"/>
                    </a:solidFill>
                    <a:effectLst/>
                    <a:latin typeface="-apple-system"/>
                  </a:rPr>
                  <a:t>[</a:t>
                </a:r>
                <a:r>
                  <a:rPr lang="ko-KR" altLang="en-US" sz="1000" b="1" i="0" dirty="0">
                    <a:solidFill>
                      <a:schemeClr val="tx1"/>
                    </a:solidFill>
                    <a:effectLst/>
                    <a:latin typeface="-apple-system"/>
                  </a:rPr>
                  <a:t>전체 → 개별</a:t>
                </a:r>
                <a:r>
                  <a:rPr lang="en-US" altLang="ko-KR" sz="1000" b="1" i="0" dirty="0">
                    <a:solidFill>
                      <a:schemeClr val="tx1"/>
                    </a:solidFill>
                    <a:effectLst/>
                    <a:latin typeface="-apple-system"/>
                  </a:rPr>
                  <a:t>] AI</a:t>
                </a:r>
                <a:r>
                  <a:rPr lang="ko-KR" altLang="en-US" sz="1000" b="1" i="0" dirty="0">
                    <a:solidFill>
                      <a:schemeClr val="tx1"/>
                    </a:solidFill>
                    <a:effectLst/>
                    <a:latin typeface="-apple-system"/>
                  </a:rPr>
                  <a:t>의 통계 해석</a:t>
                </a:r>
                <a:r>
                  <a:rPr lang="en-US" altLang="ko-KR" sz="1000" b="1" i="0" dirty="0">
                    <a:solidFill>
                      <a:schemeClr val="tx1"/>
                    </a:solidFill>
                    <a:effectLst/>
                    <a:latin typeface="-apple-system"/>
                  </a:rPr>
                  <a:t>, </a:t>
                </a:r>
                <a:r>
                  <a:rPr lang="ko-KR" altLang="en-US" sz="1000" b="1" i="0" dirty="0">
                    <a:solidFill>
                      <a:schemeClr val="tx1"/>
                    </a:solidFill>
                    <a:effectLst/>
                    <a:latin typeface="-apple-system"/>
                  </a:rPr>
                  <a:t>믿어도 될까</a:t>
                </a:r>
                <a:r>
                  <a:rPr lang="en-US" altLang="ko-KR" sz="1000" b="1" i="0" dirty="0">
                    <a:solidFill>
                      <a:schemeClr val="tx1"/>
                    </a:solidFill>
                    <a:effectLst/>
                    <a:latin typeface="-apple-system"/>
                  </a:rPr>
                  <a:t>?</a:t>
                </a:r>
                <a:endParaRPr lang="ko-KR" altLang="en-US" sz="1000" b="0" i="0" dirty="0">
                  <a:solidFill>
                    <a:schemeClr val="tx1"/>
                  </a:solidFill>
                  <a:effectLst/>
                  <a:latin typeface="-apple-system"/>
                </a:endParaRPr>
              </a:p>
              <a:p>
                <a:pPr algn="l">
                  <a:buFont typeface="Arial" panose="020B0604020202020204" pitchFamily="34" charset="0"/>
                  <a:buChar char="•"/>
                </a:pP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같은 신뢰구간에 대한 두 </a:t>
                </a:r>
                <a:r>
                  <a:rPr lang="en-US" altLang="ko-KR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AI </a:t>
                </a: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해석 비교</a:t>
                </a:r>
              </a:p>
              <a:p>
                <a:pPr algn="l">
                  <a:buFont typeface="Arial" panose="020B0604020202020204" pitchFamily="34" charset="0"/>
                  <a:buChar char="•"/>
                </a:pP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더 타당한 답변 선택</a:t>
                </a:r>
              </a:p>
              <a:p>
                <a:pPr algn="l">
                  <a:buFont typeface="Arial" panose="020B0604020202020204" pitchFamily="34" charset="0"/>
                  <a:buChar char="•"/>
                </a:pP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의심스러운 문장 표시 및 초기 이유 작성</a:t>
                </a:r>
              </a:p>
              <a:p>
                <a:pPr marL="0" marR="0" lvl="0" indent="0" algn="l" rtl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00" b="0" i="0" u="none" strike="noStrike" cap="none" dirty="0">
                  <a:solidFill>
                    <a:schemeClr val="tx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958" name="Google Shape;958;p50"/>
              <p:cNvSpPr/>
              <p:nvPr/>
            </p:nvSpPr>
            <p:spPr>
              <a:xfrm>
                <a:off x="2274652" y="4892041"/>
                <a:ext cx="1221900" cy="161400"/>
              </a:xfrm>
              <a:prstGeom prst="roundRect">
                <a:avLst>
                  <a:gd name="adj" fmla="val 50000"/>
                </a:avLst>
              </a:prstGeom>
              <a:solidFill>
                <a:srgbClr val="9965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000" b="1" i="0" u="none" strike="noStrike" cap="none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도입(5분)</a:t>
                </a:r>
                <a:endParaRPr sz="1000" b="1" i="0" u="none" strike="noStrike" cap="none">
                  <a:solidFill>
                    <a:schemeClr val="tx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</p:grpSp>
      <p:grpSp>
        <p:nvGrpSpPr>
          <p:cNvPr id="959" name="Google Shape;959;p50"/>
          <p:cNvGrpSpPr/>
          <p:nvPr/>
        </p:nvGrpSpPr>
        <p:grpSpPr>
          <a:xfrm>
            <a:off x="3822242" y="1096385"/>
            <a:ext cx="2391710" cy="5115529"/>
            <a:chOff x="3730232" y="596155"/>
            <a:chExt cx="2391710" cy="2687857"/>
          </a:xfrm>
        </p:grpSpPr>
        <p:sp>
          <p:nvSpPr>
            <p:cNvPr id="960" name="Google Shape;960;p50"/>
            <p:cNvSpPr/>
            <p:nvPr/>
          </p:nvSpPr>
          <p:spPr>
            <a:xfrm>
              <a:off x="3730342" y="2900012"/>
              <a:ext cx="2391600" cy="384000"/>
            </a:xfrm>
            <a:prstGeom prst="roundRect">
              <a:avLst>
                <a:gd name="adj" fmla="val 6381"/>
              </a:avLst>
            </a:prstGeom>
            <a:solidFill>
              <a:srgbClr val="E0F8F6"/>
            </a:solidFill>
            <a:ln w="12700" cap="flat" cmpd="sng">
              <a:solidFill>
                <a:srgbClr val="29B6AA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85725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1000" b="1" i="0" dirty="0">
                  <a:solidFill>
                    <a:schemeClr val="tx1"/>
                  </a:solidFill>
                  <a:effectLst/>
                  <a:latin typeface="-apple-system"/>
                </a:rPr>
                <a:t>도구</a:t>
              </a:r>
              <a:r>
                <a:rPr lang="en-US" altLang="ko-KR" sz="1000" b="1" i="0" dirty="0">
                  <a:solidFill>
                    <a:schemeClr val="tx1"/>
                  </a:solidFill>
                  <a:effectLst/>
                  <a:latin typeface="-apple-system"/>
                </a:rPr>
                <a:t>:</a:t>
              </a:r>
              <a:r>
                <a:rPr lang="ko-KR" altLang="en-US" sz="1000" b="0" i="0" dirty="0">
                  <a:solidFill>
                    <a:schemeClr val="tx1"/>
                  </a:solidFill>
                  <a:effectLst/>
                  <a:latin typeface="-apple-system"/>
                </a:rPr>
                <a:t> </a:t>
              </a:r>
              <a:r>
                <a:rPr lang="en-US" altLang="ko-KR" sz="1000" b="0" i="0" dirty="0">
                  <a:solidFill>
                    <a:schemeClr val="tx1"/>
                  </a:solidFill>
                  <a:effectLst/>
                  <a:latin typeface="-apple-system"/>
                </a:rPr>
                <a:t>Google Sheets </a:t>
              </a:r>
              <a:r>
                <a:rPr lang="ko-KR" altLang="en-US" sz="1000" b="0" i="0" dirty="0">
                  <a:solidFill>
                    <a:schemeClr val="tx1"/>
                  </a:solidFill>
                  <a:effectLst/>
                  <a:latin typeface="-apple-system"/>
                </a:rPr>
                <a:t>또는 </a:t>
              </a:r>
              <a:r>
                <a:rPr lang="en-US" altLang="ko-KR" sz="1000" b="0" i="0" dirty="0">
                  <a:solidFill>
                    <a:schemeClr val="tx1"/>
                  </a:solidFill>
                  <a:effectLst/>
                  <a:latin typeface="-apple-system"/>
                </a:rPr>
                <a:t>Excel, </a:t>
              </a:r>
              <a:r>
                <a:rPr lang="en-US" altLang="ko-KR" sz="1000" b="0" i="0" dirty="0" err="1">
                  <a:solidFill>
                    <a:schemeClr val="tx1"/>
                  </a:solidFill>
                  <a:effectLst/>
                  <a:latin typeface="-apple-system"/>
                </a:rPr>
                <a:t>ChatGPT</a:t>
              </a:r>
              <a:r>
                <a:rPr lang="en-US" altLang="ko-KR" sz="1000" b="0" i="0" dirty="0">
                  <a:solidFill>
                    <a:schemeClr val="tx1"/>
                  </a:solidFill>
                  <a:effectLst/>
                  <a:latin typeface="-apple-system"/>
                </a:rPr>
                <a:t> </a:t>
              </a:r>
              <a:r>
                <a:rPr lang="ko-KR" altLang="en-US" sz="1000" b="0" i="0" dirty="0">
                  <a:solidFill>
                    <a:schemeClr val="tx1"/>
                  </a:solidFill>
                  <a:effectLst/>
                  <a:latin typeface="-apple-system"/>
                </a:rPr>
                <a:t>또는 학교 승인 생성형 </a:t>
              </a:r>
              <a:r>
                <a:rPr lang="en-US" altLang="ko-KR" sz="1000" b="0" i="0" dirty="0">
                  <a:solidFill>
                    <a:schemeClr val="tx1"/>
                  </a:solidFill>
                  <a:effectLst/>
                  <a:latin typeface="-apple-system"/>
                </a:rPr>
                <a:t>AI</a:t>
              </a:r>
              <a:br>
                <a:rPr lang="ko-KR" altLang="en-US" sz="1000" dirty="0">
                  <a:solidFill>
                    <a:schemeClr val="tx1"/>
                  </a:solidFill>
                </a:rPr>
              </a:br>
              <a:r>
                <a:rPr lang="ko-KR" altLang="en-US" sz="1000" b="1" i="0" dirty="0">
                  <a:solidFill>
                    <a:schemeClr val="tx1"/>
                  </a:solidFill>
                  <a:effectLst/>
                  <a:latin typeface="-apple-system"/>
                </a:rPr>
                <a:t>역할</a:t>
              </a:r>
              <a:r>
                <a:rPr lang="en-US" altLang="ko-KR" sz="1000" b="1" i="0" dirty="0">
                  <a:solidFill>
                    <a:schemeClr val="tx1"/>
                  </a:solidFill>
                  <a:effectLst/>
                  <a:latin typeface="-apple-system"/>
                </a:rPr>
                <a:t>:</a:t>
              </a:r>
              <a:r>
                <a:rPr lang="ko-KR" altLang="en-US" sz="1000" b="0" i="0" dirty="0">
                  <a:solidFill>
                    <a:schemeClr val="tx1"/>
                  </a:solidFill>
                  <a:effectLst/>
                  <a:latin typeface="-apple-system"/>
                </a:rPr>
                <a:t> 신뢰구간을 계산</a:t>
              </a:r>
              <a:r>
                <a:rPr lang="en-US" altLang="ko-KR" sz="1000" b="0" i="0" dirty="0">
                  <a:solidFill>
                    <a:schemeClr val="tx1"/>
                  </a:solidFill>
                  <a:effectLst/>
                  <a:latin typeface="-apple-system"/>
                </a:rPr>
                <a:t>·</a:t>
              </a:r>
              <a:r>
                <a:rPr lang="ko-KR" altLang="en-US" sz="1000" b="0" i="0" dirty="0">
                  <a:solidFill>
                    <a:schemeClr val="tx1"/>
                  </a:solidFill>
                  <a:effectLst/>
                  <a:latin typeface="-apple-system"/>
                </a:rPr>
                <a:t>시각화하고 </a:t>
              </a:r>
              <a:r>
                <a:rPr lang="en-US" altLang="ko-KR" sz="1000" b="0" i="0" dirty="0">
                  <a:solidFill>
                    <a:schemeClr val="tx1"/>
                  </a:solidFill>
                  <a:effectLst/>
                  <a:latin typeface="-apple-system"/>
                </a:rPr>
                <a:t>AI</a:t>
              </a:r>
              <a:r>
                <a:rPr lang="ko-KR" altLang="en-US" sz="1000" b="0" i="0" dirty="0">
                  <a:solidFill>
                    <a:schemeClr val="tx1"/>
                  </a:solidFill>
                  <a:effectLst/>
                  <a:latin typeface="-apple-system"/>
                </a:rPr>
                <a:t>의 해석을 검증함</a:t>
              </a:r>
              <a:endParaRPr sz="1000" dirty="0">
                <a:solidFill>
                  <a:schemeClr val="tx1"/>
                </a:solidFill>
              </a:endParaRPr>
            </a:p>
          </p:txBody>
        </p:sp>
        <p:grpSp>
          <p:nvGrpSpPr>
            <p:cNvPr id="961" name="Google Shape;961;p50"/>
            <p:cNvGrpSpPr/>
            <p:nvPr/>
          </p:nvGrpSpPr>
          <p:grpSpPr>
            <a:xfrm>
              <a:off x="3730232" y="596155"/>
              <a:ext cx="2391515" cy="2269889"/>
              <a:chOff x="2194117" y="4937800"/>
              <a:chExt cx="1381500" cy="2269889"/>
            </a:xfrm>
          </p:grpSpPr>
          <p:sp>
            <p:nvSpPr>
              <p:cNvPr id="950" name="Google Shape;950;p50"/>
              <p:cNvSpPr/>
              <p:nvPr/>
            </p:nvSpPr>
            <p:spPr>
              <a:xfrm>
                <a:off x="2194117" y="5023389"/>
                <a:ext cx="1381500" cy="2184300"/>
              </a:xfrm>
              <a:prstGeom prst="roundRect">
                <a:avLst>
                  <a:gd name="adj" fmla="val 2443"/>
                </a:avLst>
              </a:prstGeom>
              <a:solidFill>
                <a:schemeClr val="lt1"/>
              </a:solidFill>
              <a:ln w="19050" cap="flat" cmpd="sng">
                <a:solidFill>
                  <a:srgbClr val="29B6AA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0" tIns="144000" rIns="0" bIns="0" anchor="t" anchorCtr="0">
                <a:noAutofit/>
              </a:bodyPr>
              <a:lstStyle/>
              <a:p>
                <a:pPr algn="l"/>
                <a:r>
                  <a:rPr lang="en-US" altLang="ko-KR" sz="1000" b="1" i="0" dirty="0">
                    <a:solidFill>
                      <a:schemeClr val="tx1"/>
                    </a:solidFill>
                    <a:effectLst/>
                    <a:latin typeface="-apple-system"/>
                  </a:rPr>
                  <a:t>[</a:t>
                </a:r>
                <a:r>
                  <a:rPr lang="ko-KR" altLang="en-US" sz="1000" b="1" i="0" dirty="0">
                    <a:solidFill>
                      <a:schemeClr val="tx1"/>
                    </a:solidFill>
                    <a:effectLst/>
                    <a:latin typeface="-apple-system"/>
                  </a:rPr>
                  <a:t>개별 → 모둠</a:t>
                </a:r>
                <a:r>
                  <a:rPr lang="en-US" altLang="ko-KR" sz="1000" b="1" i="0" dirty="0">
                    <a:solidFill>
                      <a:schemeClr val="tx1"/>
                    </a:solidFill>
                    <a:effectLst/>
                    <a:latin typeface="-apple-system"/>
                  </a:rPr>
                  <a:t>] AI </a:t>
                </a:r>
                <a:r>
                  <a:rPr lang="ko-KR" altLang="en-US" sz="1000" b="1" i="0" dirty="0">
                    <a:solidFill>
                      <a:schemeClr val="tx1"/>
                    </a:solidFill>
                    <a:effectLst/>
                    <a:latin typeface="-apple-system"/>
                  </a:rPr>
                  <a:t>답변을 수학적으로 검증하기</a:t>
                </a:r>
                <a:endParaRPr lang="ko-KR" altLang="en-US" sz="1000" b="0" i="0" dirty="0">
                  <a:solidFill>
                    <a:schemeClr val="tx1"/>
                  </a:solidFill>
                  <a:effectLst/>
                  <a:latin typeface="-apple-system"/>
                </a:endParaRPr>
              </a:p>
              <a:p>
                <a:pPr algn="l">
                  <a:buFont typeface="Arial" panose="020B0604020202020204" pitchFamily="34" charset="0"/>
                  <a:buChar char="•"/>
                </a:pPr>
                <a:r>
                  <a:rPr lang="en-US" altLang="ko-KR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Sheets</a:t>
                </a: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로 표본비율과 </a:t>
                </a:r>
                <a:r>
                  <a:rPr lang="en-US" altLang="ko-KR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95% </a:t>
                </a: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신뢰구간 계산</a:t>
                </a:r>
              </a:p>
              <a:p>
                <a:pPr algn="l">
                  <a:buFont typeface="Arial" panose="020B0604020202020204" pitchFamily="34" charset="0"/>
                  <a:buChar char="•"/>
                </a:pPr>
                <a:r>
                  <a:rPr lang="ko-KR" altLang="en-US" sz="1000" b="0" i="0" dirty="0" err="1">
                    <a:solidFill>
                      <a:schemeClr val="tx1"/>
                    </a:solidFill>
                    <a:effectLst/>
                    <a:latin typeface="-apple-system"/>
                  </a:rPr>
                  <a:t>비식별</a:t>
                </a: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 </a:t>
                </a:r>
                <a:r>
                  <a:rPr lang="ko-KR" altLang="en-US" sz="1000" b="0" i="0" dirty="0" err="1">
                    <a:solidFill>
                      <a:schemeClr val="tx1"/>
                    </a:solidFill>
                    <a:effectLst/>
                    <a:latin typeface="-apple-system"/>
                  </a:rPr>
                  <a:t>요약값을</a:t>
                </a: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 </a:t>
                </a:r>
                <a:r>
                  <a:rPr lang="en-US" altLang="ko-KR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AI</a:t>
                </a: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에 입력하여 해석 요청</a:t>
                </a:r>
              </a:p>
              <a:p>
                <a:pPr algn="l">
                  <a:buFont typeface="Arial" panose="020B0604020202020204" pitchFamily="34" charset="0"/>
                  <a:buChar char="•"/>
                </a:pPr>
                <a:r>
                  <a:rPr lang="en-US" altLang="ko-KR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AI </a:t>
                </a: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문장을 ‘옳음</a:t>
                </a:r>
                <a:r>
                  <a:rPr lang="en-US" altLang="ko-KR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·</a:t>
                </a: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오류</a:t>
                </a:r>
                <a:r>
                  <a:rPr lang="en-US" altLang="ko-KR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·</a:t>
                </a: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확인 </a:t>
                </a:r>
                <a:r>
                  <a:rPr lang="ko-KR" altLang="en-US" sz="1000" b="0" i="0" dirty="0" err="1">
                    <a:solidFill>
                      <a:schemeClr val="tx1"/>
                    </a:solidFill>
                    <a:effectLst/>
                    <a:latin typeface="-apple-system"/>
                  </a:rPr>
                  <a:t>필요’로</a:t>
                </a: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 분류</a:t>
                </a:r>
              </a:p>
              <a:p>
                <a:pPr algn="l">
                  <a:buFont typeface="Arial" panose="020B0604020202020204" pitchFamily="34" charset="0"/>
                  <a:buChar char="•"/>
                </a:pP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계산 결과와 교과 개념으로 분류 이유 기록</a:t>
                </a:r>
              </a:p>
              <a:p>
                <a:pPr algn="l"/>
                <a:endParaRPr lang="en-US" altLang="ko-KR" sz="1000" b="1" i="0" dirty="0">
                  <a:solidFill>
                    <a:schemeClr val="tx1"/>
                  </a:solidFill>
                  <a:effectLst/>
                  <a:latin typeface="-apple-system"/>
                </a:endParaRPr>
              </a:p>
              <a:p>
                <a:pPr algn="l"/>
                <a:r>
                  <a:rPr lang="ko-KR" altLang="en-US" sz="1000" b="1" i="0" dirty="0">
                    <a:solidFill>
                      <a:schemeClr val="tx1"/>
                    </a:solidFill>
                    <a:effectLst/>
                    <a:latin typeface="-apple-system"/>
                  </a:rPr>
                  <a:t>학생 입력 문장</a:t>
                </a:r>
                <a:r>
                  <a:rPr lang="en-US" altLang="ko-KR" sz="1000" b="1" i="0" dirty="0">
                    <a:solidFill>
                      <a:schemeClr val="tx1"/>
                    </a:solidFill>
                    <a:effectLst/>
                    <a:latin typeface="-apple-system"/>
                  </a:rPr>
                  <a:t>:</a:t>
                </a:r>
                <a:b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</a:b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“결론은 내리지 말고</a:t>
                </a:r>
                <a:r>
                  <a:rPr lang="en-US" altLang="ko-KR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, </a:t>
                </a: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이 </a:t>
                </a:r>
                <a:r>
                  <a:rPr lang="en-US" altLang="ko-KR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95% </a:t>
                </a: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신뢰구간의 의미만 조사 맥락에서 설명해 줘</a:t>
                </a:r>
                <a:r>
                  <a:rPr lang="en-US" altLang="ko-KR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.”</a:t>
                </a:r>
              </a:p>
            </p:txBody>
          </p:sp>
          <p:sp>
            <p:nvSpPr>
              <p:cNvPr id="962" name="Google Shape;962;p50"/>
              <p:cNvSpPr/>
              <p:nvPr/>
            </p:nvSpPr>
            <p:spPr>
              <a:xfrm>
                <a:off x="2274652" y="4937800"/>
                <a:ext cx="1221900" cy="166500"/>
              </a:xfrm>
              <a:prstGeom prst="roundRect">
                <a:avLst>
                  <a:gd name="adj" fmla="val 50000"/>
                </a:avLst>
              </a:prstGeom>
              <a:solidFill>
                <a:srgbClr val="29B6A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000" b="1" i="0" u="none" strike="noStrike" cap="none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전개1(10분)</a:t>
                </a:r>
                <a:endParaRPr sz="1000" b="1" i="0" u="none" strike="noStrike" cap="none">
                  <a:solidFill>
                    <a:schemeClr val="tx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</p:grpSp>
      <p:grpSp>
        <p:nvGrpSpPr>
          <p:cNvPr id="963" name="Google Shape;963;p50"/>
          <p:cNvGrpSpPr/>
          <p:nvPr/>
        </p:nvGrpSpPr>
        <p:grpSpPr>
          <a:xfrm>
            <a:off x="9505361" y="358113"/>
            <a:ext cx="2391710" cy="4040642"/>
            <a:chOff x="9379463" y="759196"/>
            <a:chExt cx="2391710" cy="2843320"/>
          </a:xfrm>
        </p:grpSpPr>
        <p:sp>
          <p:nvSpPr>
            <p:cNvPr id="964" name="Google Shape;964;p50"/>
            <p:cNvSpPr/>
            <p:nvPr/>
          </p:nvSpPr>
          <p:spPr>
            <a:xfrm>
              <a:off x="9379573" y="3004616"/>
              <a:ext cx="2391600" cy="597900"/>
            </a:xfrm>
            <a:prstGeom prst="roundRect">
              <a:avLst>
                <a:gd name="adj" fmla="val 6381"/>
              </a:avLst>
            </a:prstGeom>
            <a:solidFill>
              <a:srgbClr val="FFF3F4"/>
            </a:solidFill>
            <a:ln w="12700" cap="flat" cmpd="sng">
              <a:solidFill>
                <a:srgbClr val="FF5364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85725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1000" b="1" i="0" dirty="0">
                  <a:solidFill>
                    <a:schemeClr val="tx1"/>
                  </a:solidFill>
                  <a:effectLst/>
                  <a:latin typeface="-apple-system"/>
                </a:rPr>
                <a:t>도구</a:t>
              </a:r>
              <a:r>
                <a:rPr lang="en-US" altLang="ko-KR" sz="1000" b="1" i="0" dirty="0">
                  <a:solidFill>
                    <a:schemeClr val="tx1"/>
                  </a:solidFill>
                  <a:effectLst/>
                  <a:latin typeface="-apple-system"/>
                </a:rPr>
                <a:t>:</a:t>
              </a:r>
              <a:r>
                <a:rPr lang="ko-KR" altLang="en-US" sz="1000" b="0" i="0" dirty="0">
                  <a:solidFill>
                    <a:schemeClr val="tx1"/>
                  </a:solidFill>
                  <a:effectLst/>
                  <a:latin typeface="-apple-system"/>
                </a:rPr>
                <a:t> </a:t>
              </a:r>
              <a:r>
                <a:rPr lang="en-US" altLang="ko-KR" sz="1000" b="0" i="0" dirty="0">
                  <a:solidFill>
                    <a:schemeClr val="tx1"/>
                  </a:solidFill>
                  <a:effectLst/>
                  <a:latin typeface="-apple-system"/>
                </a:rPr>
                <a:t>Padlet</a:t>
              </a:r>
              <a:br>
                <a:rPr lang="ko-KR" altLang="en-US" sz="1000" dirty="0">
                  <a:solidFill>
                    <a:schemeClr val="tx1"/>
                  </a:solidFill>
                </a:rPr>
              </a:br>
              <a:r>
                <a:rPr lang="ko-KR" altLang="en-US" sz="1000" b="1" i="0" dirty="0">
                  <a:solidFill>
                    <a:schemeClr val="tx1"/>
                  </a:solidFill>
                  <a:effectLst/>
                  <a:latin typeface="-apple-system"/>
                </a:rPr>
                <a:t>역할</a:t>
              </a:r>
              <a:r>
                <a:rPr lang="en-US" altLang="ko-KR" sz="1000" b="1" i="0" dirty="0">
                  <a:solidFill>
                    <a:schemeClr val="tx1"/>
                  </a:solidFill>
                  <a:effectLst/>
                  <a:latin typeface="-apple-system"/>
                </a:rPr>
                <a:t>:</a:t>
              </a:r>
              <a:r>
                <a:rPr lang="ko-KR" altLang="en-US" sz="1000" b="0" i="0" dirty="0">
                  <a:solidFill>
                    <a:schemeClr val="tx1"/>
                  </a:solidFill>
                  <a:effectLst/>
                  <a:latin typeface="-apple-system"/>
                </a:rPr>
                <a:t> 최종 자문과 </a:t>
              </a:r>
              <a:r>
                <a:rPr lang="en-US" altLang="ko-KR" sz="1000" b="0" i="0" dirty="0">
                  <a:solidFill>
                    <a:schemeClr val="tx1"/>
                  </a:solidFill>
                  <a:effectLst/>
                  <a:latin typeface="-apple-system"/>
                </a:rPr>
                <a:t>AI </a:t>
              </a:r>
              <a:r>
                <a:rPr lang="ko-KR" altLang="en-US" sz="1000" b="0" i="0" dirty="0">
                  <a:solidFill>
                    <a:schemeClr val="tx1"/>
                  </a:solidFill>
                  <a:effectLst/>
                  <a:latin typeface="-apple-system"/>
                </a:rPr>
                <a:t>피드백 판단 근거를 공유</a:t>
              </a:r>
              <a:r>
                <a:rPr lang="en-US" altLang="ko-KR" sz="1000" b="0" i="0" dirty="0">
                  <a:solidFill>
                    <a:schemeClr val="tx1"/>
                  </a:solidFill>
                  <a:effectLst/>
                  <a:latin typeface="-apple-system"/>
                </a:rPr>
                <a:t>·</a:t>
              </a:r>
              <a:r>
                <a:rPr lang="ko-KR" altLang="en-US" sz="1000" b="0" i="0" dirty="0">
                  <a:solidFill>
                    <a:schemeClr val="tx1"/>
                  </a:solidFill>
                  <a:effectLst/>
                  <a:latin typeface="-apple-system"/>
                </a:rPr>
                <a:t>성찰함</a:t>
              </a:r>
              <a:endParaRPr sz="1000" dirty="0">
                <a:solidFill>
                  <a:schemeClr val="tx1"/>
                </a:solidFill>
              </a:endParaRPr>
            </a:p>
          </p:txBody>
        </p:sp>
        <p:grpSp>
          <p:nvGrpSpPr>
            <p:cNvPr id="965" name="Google Shape;965;p50"/>
            <p:cNvGrpSpPr/>
            <p:nvPr/>
          </p:nvGrpSpPr>
          <p:grpSpPr>
            <a:xfrm>
              <a:off x="9379463" y="759196"/>
              <a:ext cx="2391515" cy="2207350"/>
              <a:chOff x="2194117" y="4892040"/>
              <a:chExt cx="1381500" cy="2207350"/>
            </a:xfrm>
          </p:grpSpPr>
          <p:sp>
            <p:nvSpPr>
              <p:cNvPr id="954" name="Google Shape;954;p50"/>
              <p:cNvSpPr/>
              <p:nvPr/>
            </p:nvSpPr>
            <p:spPr>
              <a:xfrm>
                <a:off x="2194117" y="5023390"/>
                <a:ext cx="1381500" cy="2076000"/>
              </a:xfrm>
              <a:prstGeom prst="roundRect">
                <a:avLst>
                  <a:gd name="adj" fmla="val 2443"/>
                </a:avLst>
              </a:prstGeom>
              <a:solidFill>
                <a:schemeClr val="lt1"/>
              </a:solidFill>
              <a:ln w="19050" cap="flat" cmpd="sng">
                <a:solidFill>
                  <a:srgbClr val="FF536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0" tIns="144000" rIns="0" bIns="0" anchor="t" anchorCtr="0">
                <a:noAutofit/>
              </a:bodyPr>
              <a:lstStyle/>
              <a:p>
                <a:pPr algn="l"/>
                <a:r>
                  <a:rPr lang="en-US" altLang="ko-KR" sz="1000" b="1" i="0" dirty="0">
                    <a:solidFill>
                      <a:schemeClr val="tx1"/>
                    </a:solidFill>
                    <a:effectLst/>
                    <a:latin typeface="-apple-system"/>
                  </a:rPr>
                  <a:t>[</a:t>
                </a:r>
                <a:r>
                  <a:rPr lang="ko-KR" altLang="en-US" sz="1000" b="1" i="0" dirty="0">
                    <a:solidFill>
                      <a:schemeClr val="tx1"/>
                    </a:solidFill>
                    <a:effectLst/>
                    <a:latin typeface="-apple-system"/>
                  </a:rPr>
                  <a:t>모둠 → 전체 → 개별</a:t>
                </a:r>
                <a:r>
                  <a:rPr lang="en-US" altLang="ko-KR" sz="1000" b="1" i="0" dirty="0">
                    <a:solidFill>
                      <a:schemeClr val="tx1"/>
                    </a:solidFill>
                    <a:effectLst/>
                    <a:latin typeface="-apple-system"/>
                  </a:rPr>
                  <a:t>] </a:t>
                </a:r>
                <a:r>
                  <a:rPr lang="ko-KR" altLang="en-US" sz="1000" b="1" i="0" dirty="0">
                    <a:solidFill>
                      <a:schemeClr val="tx1"/>
                    </a:solidFill>
                    <a:effectLst/>
                    <a:latin typeface="-apple-system"/>
                  </a:rPr>
                  <a:t>통계 자문과 </a:t>
                </a:r>
                <a:r>
                  <a:rPr lang="en-US" altLang="ko-KR" sz="1000" b="1" i="0" dirty="0">
                    <a:solidFill>
                      <a:schemeClr val="tx1"/>
                    </a:solidFill>
                    <a:effectLst/>
                    <a:latin typeface="-apple-system"/>
                  </a:rPr>
                  <a:t>AI </a:t>
                </a:r>
                <a:r>
                  <a:rPr lang="ko-KR" altLang="en-US" sz="1000" b="1" i="0" dirty="0">
                    <a:solidFill>
                      <a:schemeClr val="tx1"/>
                    </a:solidFill>
                    <a:effectLst/>
                    <a:latin typeface="-apple-system"/>
                  </a:rPr>
                  <a:t>판단 기록 공유하기</a:t>
                </a:r>
                <a:endParaRPr lang="ko-KR" altLang="en-US" sz="1000" b="0" i="0" dirty="0">
                  <a:solidFill>
                    <a:schemeClr val="tx1"/>
                  </a:solidFill>
                  <a:effectLst/>
                  <a:latin typeface="-apple-system"/>
                </a:endParaRPr>
              </a:p>
              <a:p>
                <a:pPr algn="l">
                  <a:buFont typeface="Arial" panose="020B0604020202020204" pitchFamily="34" charset="0"/>
                  <a:buChar char="•"/>
                </a:pP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최종 권고와 핵심 신뢰구간 게시</a:t>
                </a:r>
              </a:p>
              <a:p>
                <a:pPr algn="l">
                  <a:buFont typeface="Arial" panose="020B0604020202020204" pitchFamily="34" charset="0"/>
                  <a:buChar char="•"/>
                </a:pPr>
                <a:r>
                  <a:rPr lang="en-US" altLang="ko-KR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AI </a:t>
                </a: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제안 한 가지의 수용 또는 거절 이유 공유</a:t>
                </a:r>
              </a:p>
              <a:p>
                <a:pPr algn="l">
                  <a:buFont typeface="Arial" panose="020B0604020202020204" pitchFamily="34" charset="0"/>
                  <a:buChar char="•"/>
                </a:pP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다른 모둠에 수학적 질문 한 가지 작성</a:t>
                </a:r>
              </a:p>
              <a:p>
                <a:pPr algn="l">
                  <a:buFont typeface="Arial" panose="020B0604020202020204" pitchFamily="34" charset="0"/>
                  <a:buChar char="•"/>
                </a:pP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출구 문항에 개별 응답</a:t>
                </a:r>
              </a:p>
              <a:p>
                <a:pPr algn="l"/>
                <a:endParaRPr lang="en-US" altLang="ko-KR" sz="1000" b="1" i="0" dirty="0">
                  <a:solidFill>
                    <a:schemeClr val="tx1"/>
                  </a:solidFill>
                  <a:effectLst/>
                  <a:latin typeface="-apple-system"/>
                </a:endParaRPr>
              </a:p>
              <a:p>
                <a:pPr algn="l"/>
                <a:r>
                  <a:rPr lang="ko-KR" altLang="en-US" sz="1000" b="1" i="0" dirty="0">
                    <a:solidFill>
                      <a:schemeClr val="tx1"/>
                    </a:solidFill>
                    <a:effectLst/>
                    <a:latin typeface="-apple-system"/>
                  </a:rPr>
                  <a:t>출구 문항</a:t>
                </a:r>
                <a:r>
                  <a:rPr lang="en-US" altLang="ko-KR" sz="1000" b="1" i="0" dirty="0">
                    <a:solidFill>
                      <a:schemeClr val="tx1"/>
                    </a:solidFill>
                    <a:effectLst/>
                    <a:latin typeface="-apple-system"/>
                  </a:rPr>
                  <a:t>:</a:t>
                </a:r>
                <a:b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</a:b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“</a:t>
                </a:r>
                <a:r>
                  <a:rPr lang="en-US" altLang="ko-KR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AI</a:t>
                </a: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의 피드백 중 수용하거나 거절한 것은 무엇이며</a:t>
                </a:r>
                <a:r>
                  <a:rPr lang="en-US" altLang="ko-KR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, </a:t>
                </a: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어떤 수학적 근거로 판단했는가</a:t>
                </a:r>
                <a:r>
                  <a:rPr lang="en-US" altLang="ko-KR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?”</a:t>
                </a:r>
              </a:p>
            </p:txBody>
          </p:sp>
          <p:sp>
            <p:nvSpPr>
              <p:cNvPr id="966" name="Google Shape;966;p50"/>
              <p:cNvSpPr/>
              <p:nvPr/>
            </p:nvSpPr>
            <p:spPr>
              <a:xfrm>
                <a:off x="2274652" y="4892040"/>
                <a:ext cx="1221900" cy="212700"/>
              </a:xfrm>
              <a:prstGeom prst="roundRect">
                <a:avLst>
                  <a:gd name="adj" fmla="val 50000"/>
                </a:avLst>
              </a:prstGeom>
              <a:solidFill>
                <a:srgbClr val="FF5364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000" b="1" i="0" u="none" strike="noStrike" cap="none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단계명(5분)</a:t>
                </a:r>
                <a:endParaRPr sz="1000" b="1" i="0" u="none" strike="noStrike" cap="none">
                  <a:solidFill>
                    <a:schemeClr val="tx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</p:grpSp>
      <p:grpSp>
        <p:nvGrpSpPr>
          <p:cNvPr id="967" name="Google Shape;967;p50"/>
          <p:cNvGrpSpPr/>
          <p:nvPr/>
        </p:nvGrpSpPr>
        <p:grpSpPr>
          <a:xfrm>
            <a:off x="6600852" y="1247490"/>
            <a:ext cx="2391710" cy="4738187"/>
            <a:chOff x="6554848" y="2366459"/>
            <a:chExt cx="2391710" cy="2950671"/>
          </a:xfrm>
        </p:grpSpPr>
        <p:sp>
          <p:nvSpPr>
            <p:cNvPr id="968" name="Google Shape;968;p50"/>
            <p:cNvSpPr/>
            <p:nvPr/>
          </p:nvSpPr>
          <p:spPr>
            <a:xfrm>
              <a:off x="6554958" y="4862030"/>
              <a:ext cx="2391600" cy="455100"/>
            </a:xfrm>
            <a:prstGeom prst="roundRect">
              <a:avLst>
                <a:gd name="adj" fmla="val 6381"/>
              </a:avLst>
            </a:prstGeom>
            <a:solidFill>
              <a:srgbClr val="FFF7DD"/>
            </a:solidFill>
            <a:ln w="12700" cap="flat" cmpd="sng">
              <a:solidFill>
                <a:srgbClr val="FFC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85725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1000" b="1" i="0" dirty="0">
                  <a:solidFill>
                    <a:schemeClr val="tx1"/>
                  </a:solidFill>
                  <a:effectLst/>
                  <a:latin typeface="-apple-system"/>
                </a:rPr>
                <a:t>도구</a:t>
              </a:r>
              <a:r>
                <a:rPr lang="en-US" altLang="ko-KR" sz="1000" b="1" i="0" dirty="0">
                  <a:solidFill>
                    <a:schemeClr val="tx1"/>
                  </a:solidFill>
                  <a:effectLst/>
                  <a:latin typeface="-apple-system"/>
                </a:rPr>
                <a:t>:</a:t>
              </a:r>
              <a:r>
                <a:rPr lang="ko-KR" altLang="en-US" sz="1000" b="0" i="0" dirty="0">
                  <a:solidFill>
                    <a:schemeClr val="tx1"/>
                  </a:solidFill>
                  <a:effectLst/>
                  <a:latin typeface="-apple-system"/>
                </a:rPr>
                <a:t> </a:t>
              </a:r>
              <a:r>
                <a:rPr lang="en-US" altLang="ko-KR" sz="1000" b="0" i="0" dirty="0" err="1">
                  <a:solidFill>
                    <a:schemeClr val="tx1"/>
                  </a:solidFill>
                  <a:effectLst/>
                  <a:latin typeface="-apple-system"/>
                </a:rPr>
                <a:t>ChatGPT</a:t>
              </a:r>
              <a:r>
                <a:rPr lang="en-US" altLang="ko-KR" sz="1000" b="0" i="0" dirty="0">
                  <a:solidFill>
                    <a:schemeClr val="tx1"/>
                  </a:solidFill>
                  <a:effectLst/>
                  <a:latin typeface="-apple-system"/>
                </a:rPr>
                <a:t> </a:t>
              </a:r>
              <a:r>
                <a:rPr lang="ko-KR" altLang="en-US" sz="1000" b="0" i="0" dirty="0">
                  <a:solidFill>
                    <a:schemeClr val="tx1"/>
                  </a:solidFill>
                  <a:effectLst/>
                  <a:latin typeface="-apple-system"/>
                </a:rPr>
                <a:t>또는 학교 승인 생성형 </a:t>
              </a:r>
              <a:r>
                <a:rPr lang="en-US" altLang="ko-KR" sz="1000" b="0" i="0" dirty="0">
                  <a:solidFill>
                    <a:schemeClr val="tx1"/>
                  </a:solidFill>
                  <a:effectLst/>
                  <a:latin typeface="-apple-system"/>
                </a:rPr>
                <a:t>AI, Google Docs </a:t>
              </a:r>
              <a:r>
                <a:rPr lang="ko-KR" altLang="en-US" sz="1000" b="0" i="0" dirty="0">
                  <a:solidFill>
                    <a:schemeClr val="tx1"/>
                  </a:solidFill>
                  <a:effectLst/>
                  <a:latin typeface="-apple-system"/>
                </a:rPr>
                <a:t>또는 </a:t>
              </a:r>
              <a:r>
                <a:rPr lang="ko-KR" altLang="en-US" sz="1000" b="0" i="0" dirty="0" err="1">
                  <a:solidFill>
                    <a:schemeClr val="tx1"/>
                  </a:solidFill>
                  <a:effectLst/>
                  <a:latin typeface="-apple-system"/>
                </a:rPr>
                <a:t>활동지</a:t>
              </a:r>
              <a:br>
                <a:rPr lang="ko-KR" altLang="en-US" sz="1000" dirty="0">
                  <a:solidFill>
                    <a:schemeClr val="tx1"/>
                  </a:solidFill>
                </a:rPr>
              </a:br>
              <a:r>
                <a:rPr lang="ko-KR" altLang="en-US" sz="1000" b="1" i="0" dirty="0">
                  <a:solidFill>
                    <a:schemeClr val="tx1"/>
                  </a:solidFill>
                  <a:effectLst/>
                  <a:latin typeface="-apple-system"/>
                </a:rPr>
                <a:t>역할</a:t>
              </a:r>
              <a:r>
                <a:rPr lang="en-US" altLang="ko-KR" sz="1000" b="1" i="0" dirty="0">
                  <a:solidFill>
                    <a:schemeClr val="tx1"/>
                  </a:solidFill>
                  <a:effectLst/>
                  <a:latin typeface="-apple-system"/>
                </a:rPr>
                <a:t>:</a:t>
              </a:r>
              <a:r>
                <a:rPr lang="ko-KR" altLang="en-US" sz="1000" b="0" i="0" dirty="0">
                  <a:solidFill>
                    <a:schemeClr val="tx1"/>
                  </a:solidFill>
                  <a:effectLst/>
                  <a:latin typeface="-apple-system"/>
                </a:rPr>
                <a:t> 자문의 과잉 해석을 점검하고 학생이 피드백의 반영 여부를 판단함</a:t>
              </a:r>
              <a:endParaRPr sz="1000" dirty="0">
                <a:solidFill>
                  <a:schemeClr val="tx1"/>
                </a:solidFill>
              </a:endParaRPr>
            </a:p>
          </p:txBody>
        </p:sp>
        <p:grpSp>
          <p:nvGrpSpPr>
            <p:cNvPr id="969" name="Google Shape;969;p50"/>
            <p:cNvGrpSpPr/>
            <p:nvPr/>
          </p:nvGrpSpPr>
          <p:grpSpPr>
            <a:xfrm>
              <a:off x="6554848" y="2366459"/>
              <a:ext cx="2391515" cy="2457249"/>
              <a:chOff x="2194117" y="4892040"/>
              <a:chExt cx="1381500" cy="2457249"/>
            </a:xfrm>
          </p:grpSpPr>
          <p:sp>
            <p:nvSpPr>
              <p:cNvPr id="952" name="Google Shape;952;p50"/>
              <p:cNvSpPr/>
              <p:nvPr/>
            </p:nvSpPr>
            <p:spPr>
              <a:xfrm>
                <a:off x="2194117" y="5023389"/>
                <a:ext cx="1381500" cy="2325900"/>
              </a:xfrm>
              <a:prstGeom prst="roundRect">
                <a:avLst>
                  <a:gd name="adj" fmla="val 2794"/>
                </a:avLst>
              </a:prstGeom>
              <a:solidFill>
                <a:schemeClr val="lt1"/>
              </a:solidFill>
              <a:ln w="19050" cap="flat" cmpd="sng">
                <a:solidFill>
                  <a:srgbClr val="FFC00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0" tIns="144000" rIns="0" bIns="0" anchor="t" anchorCtr="0">
                <a:noAutofit/>
              </a:bodyPr>
              <a:lstStyle/>
              <a:p>
                <a:pPr algn="l"/>
                <a:r>
                  <a:rPr lang="en-US" altLang="ko-KR" sz="1000" b="1" i="0" dirty="0">
                    <a:solidFill>
                      <a:schemeClr val="tx1"/>
                    </a:solidFill>
                    <a:effectLst/>
                    <a:latin typeface="-apple-system"/>
                  </a:rPr>
                  <a:t>[</a:t>
                </a:r>
                <a:r>
                  <a:rPr lang="ko-KR" altLang="en-US" sz="1000" b="1" i="0" dirty="0">
                    <a:solidFill>
                      <a:schemeClr val="tx1"/>
                    </a:solidFill>
                    <a:effectLst/>
                    <a:latin typeface="-apple-system"/>
                  </a:rPr>
                  <a:t>개별 → 모둠</a:t>
                </a:r>
                <a:r>
                  <a:rPr lang="en-US" altLang="ko-KR" sz="1000" b="1" i="0" dirty="0">
                    <a:solidFill>
                      <a:schemeClr val="tx1"/>
                    </a:solidFill>
                    <a:effectLst/>
                    <a:latin typeface="-apple-system"/>
                  </a:rPr>
                  <a:t>] AI </a:t>
                </a:r>
                <a:r>
                  <a:rPr lang="ko-KR" altLang="en-US" sz="1000" b="1" i="0" dirty="0">
                    <a:solidFill>
                      <a:schemeClr val="tx1"/>
                    </a:solidFill>
                    <a:effectLst/>
                    <a:latin typeface="-apple-system"/>
                  </a:rPr>
                  <a:t>피드백을 판단하여 조건부 권고 수정하기</a:t>
                </a:r>
                <a:endParaRPr lang="ko-KR" altLang="en-US" sz="1000" b="0" i="0" dirty="0">
                  <a:solidFill>
                    <a:schemeClr val="tx1"/>
                  </a:solidFill>
                  <a:effectLst/>
                  <a:latin typeface="-apple-system"/>
                </a:endParaRPr>
              </a:p>
              <a:p>
                <a:pPr algn="l">
                  <a:buFont typeface="Arial" panose="020B0604020202020204" pitchFamily="34" charset="0"/>
                  <a:buChar char="•"/>
                </a:pP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신뢰구간과 판단 기준 </a:t>
                </a:r>
                <a:r>
                  <a:rPr lang="en-US" altLang="ko-KR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60% </a:t>
                </a: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비교</a:t>
                </a:r>
              </a:p>
              <a:p>
                <a:pPr algn="l">
                  <a:buFont typeface="Arial" panose="020B0604020202020204" pitchFamily="34" charset="0"/>
                  <a:buChar char="•"/>
                </a:pP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주장</a:t>
                </a:r>
                <a:r>
                  <a:rPr lang="en-US" altLang="ko-KR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–</a:t>
                </a: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근거</a:t>
                </a:r>
                <a:r>
                  <a:rPr lang="en-US" altLang="ko-KR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–</a:t>
                </a: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해석</a:t>
                </a:r>
                <a:r>
                  <a:rPr lang="en-US" altLang="ko-KR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–</a:t>
                </a: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한계 구조로 </a:t>
                </a:r>
                <a:r>
                  <a:rPr lang="en-US" altLang="ko-KR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1</a:t>
                </a: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차 자문 작성</a:t>
                </a:r>
              </a:p>
              <a:p>
                <a:pPr algn="l">
                  <a:buFont typeface="Arial" panose="020B0604020202020204" pitchFamily="34" charset="0"/>
                  <a:buChar char="•"/>
                </a:pPr>
                <a:r>
                  <a:rPr lang="en-US" altLang="ko-KR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AI</a:t>
                </a: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에 과잉 해석과 빠진 한계를 질문하도록 요청</a:t>
                </a:r>
              </a:p>
              <a:p>
                <a:pPr algn="l">
                  <a:buFont typeface="Arial" panose="020B0604020202020204" pitchFamily="34" charset="0"/>
                  <a:buChar char="•"/>
                </a:pPr>
                <a:r>
                  <a:rPr lang="en-US" altLang="ko-KR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AI </a:t>
                </a: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제안을 수용</a:t>
                </a:r>
                <a:r>
                  <a:rPr lang="en-US" altLang="ko-KR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·</a:t>
                </a: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거절하고 수학적 이유 기록</a:t>
                </a:r>
              </a:p>
              <a:p>
                <a:pPr algn="l">
                  <a:buFont typeface="Arial" panose="020B0604020202020204" pitchFamily="34" charset="0"/>
                  <a:buChar char="•"/>
                </a:pP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선택한 피드백만 반영하여 최종 자문 수정</a:t>
                </a:r>
              </a:p>
              <a:p>
                <a:pPr algn="l"/>
                <a:endParaRPr lang="en-US" altLang="ko-KR" sz="1000" b="1" i="0" dirty="0">
                  <a:solidFill>
                    <a:schemeClr val="tx1"/>
                  </a:solidFill>
                  <a:effectLst/>
                  <a:latin typeface="-apple-system"/>
                </a:endParaRPr>
              </a:p>
              <a:p>
                <a:pPr algn="l"/>
                <a:r>
                  <a:rPr lang="ko-KR" altLang="en-US" sz="1000" b="1" i="0" dirty="0">
                    <a:solidFill>
                      <a:schemeClr val="tx1"/>
                    </a:solidFill>
                    <a:effectLst/>
                    <a:latin typeface="-apple-system"/>
                  </a:rPr>
                  <a:t>학생 입력 문장</a:t>
                </a:r>
                <a:r>
                  <a:rPr lang="en-US" altLang="ko-KR" sz="1000" b="1" i="0" dirty="0">
                    <a:solidFill>
                      <a:schemeClr val="tx1"/>
                    </a:solidFill>
                    <a:effectLst/>
                    <a:latin typeface="-apple-system"/>
                  </a:rPr>
                  <a:t>:</a:t>
                </a:r>
                <a:b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</a:b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“오해</a:t>
                </a:r>
                <a:r>
                  <a:rPr lang="en-US" altLang="ko-KR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, </a:t>
                </a: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근거가 부족한 주장</a:t>
                </a:r>
                <a:r>
                  <a:rPr lang="en-US" altLang="ko-KR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, </a:t>
                </a: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빠진 조사 한계를 질문으로만 지적해 줘</a:t>
                </a:r>
                <a:r>
                  <a:rPr lang="en-US" altLang="ko-KR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. </a:t>
                </a: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결론과 수정 문장은 대신 쓰지 마</a:t>
                </a:r>
                <a:r>
                  <a:rPr lang="en-US" altLang="ko-KR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.”</a:t>
                </a:r>
              </a:p>
            </p:txBody>
          </p:sp>
          <p:sp>
            <p:nvSpPr>
              <p:cNvPr id="970" name="Google Shape;970;p50"/>
              <p:cNvSpPr/>
              <p:nvPr/>
            </p:nvSpPr>
            <p:spPr>
              <a:xfrm>
                <a:off x="2274652" y="4892040"/>
                <a:ext cx="1221900" cy="171300"/>
              </a:xfrm>
              <a:prstGeom prst="roundRect">
                <a:avLst>
                  <a:gd name="adj" fmla="val 50000"/>
                </a:avLst>
              </a:prstGeom>
              <a:solidFill>
                <a:srgbClr val="FFC00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000" b="1" i="0" u="none" strike="noStrike" cap="none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전개2(25분)</a:t>
                </a:r>
                <a:endParaRPr sz="1000" b="1" i="0" u="none" strike="noStrike" cap="none">
                  <a:solidFill>
                    <a:schemeClr val="tx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</p:grpSp>
      <p:grpSp>
        <p:nvGrpSpPr>
          <p:cNvPr id="971" name="Google Shape;971;p50"/>
          <p:cNvGrpSpPr/>
          <p:nvPr/>
        </p:nvGrpSpPr>
        <p:grpSpPr>
          <a:xfrm>
            <a:off x="347851" y="3088910"/>
            <a:ext cx="328286" cy="474651"/>
            <a:chOff x="347851" y="4186705"/>
            <a:chExt cx="328286" cy="474651"/>
          </a:xfrm>
        </p:grpSpPr>
        <p:pic>
          <p:nvPicPr>
            <p:cNvPr id="972" name="Google Shape;972;p5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47851" y="4186705"/>
              <a:ext cx="328286" cy="32828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3" name="Google Shape;973;p50"/>
            <p:cNvSpPr txBox="1"/>
            <p:nvPr/>
          </p:nvSpPr>
          <p:spPr>
            <a:xfrm>
              <a:off x="358105" y="4476556"/>
              <a:ext cx="3078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 b="1" i="0" u="none" strike="noStrike" cap="none">
                  <a:solidFill>
                    <a:schemeClr val="tx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모둠</a:t>
              </a:r>
              <a:endParaRPr sz="1200" b="1" i="0" u="none" strike="noStrike" cap="none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974" name="Google Shape;974;p50"/>
          <p:cNvGrpSpPr/>
          <p:nvPr/>
        </p:nvGrpSpPr>
        <p:grpSpPr>
          <a:xfrm>
            <a:off x="358108" y="4871011"/>
            <a:ext cx="307800" cy="413361"/>
            <a:chOff x="358105" y="5273056"/>
            <a:chExt cx="307800" cy="413361"/>
          </a:xfrm>
        </p:grpSpPr>
        <p:pic>
          <p:nvPicPr>
            <p:cNvPr id="975" name="Google Shape;975;p50" descr="preencoded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98968" y="5273056"/>
              <a:ext cx="222538" cy="22253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6" name="Google Shape;976;p50"/>
            <p:cNvSpPr txBox="1"/>
            <p:nvPr/>
          </p:nvSpPr>
          <p:spPr>
            <a:xfrm>
              <a:off x="358105" y="5501617"/>
              <a:ext cx="3078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 b="1" i="0" u="none" strike="noStrike" cap="none">
                  <a:solidFill>
                    <a:schemeClr val="tx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개별</a:t>
              </a:r>
              <a:endParaRPr sz="1200" b="1" i="0" u="none" strike="noStrike" cap="none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977" name="Google Shape;977;p50"/>
          <p:cNvGrpSpPr/>
          <p:nvPr/>
        </p:nvGrpSpPr>
        <p:grpSpPr>
          <a:xfrm>
            <a:off x="266600" y="1293262"/>
            <a:ext cx="467185" cy="480012"/>
            <a:chOff x="266600" y="3658959"/>
            <a:chExt cx="467185" cy="480012"/>
          </a:xfrm>
        </p:grpSpPr>
        <p:sp>
          <p:nvSpPr>
            <p:cNvPr id="978" name="Google Shape;978;p50"/>
            <p:cNvSpPr txBox="1"/>
            <p:nvPr/>
          </p:nvSpPr>
          <p:spPr>
            <a:xfrm>
              <a:off x="358108" y="3954171"/>
              <a:ext cx="3078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 b="1" i="0" u="none" strike="noStrike" cap="none">
                  <a:solidFill>
                    <a:schemeClr val="tx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전체</a:t>
              </a:r>
              <a:endParaRPr>
                <a:solidFill>
                  <a:schemeClr val="tx1"/>
                </a:solidFill>
              </a:endParaRPr>
            </a:p>
          </p:txBody>
        </p:sp>
        <p:pic>
          <p:nvPicPr>
            <p:cNvPr id="979" name="Google Shape;979;p50"/>
            <p:cNvPicPr preferRelativeResize="0"/>
            <p:nvPr/>
          </p:nvPicPr>
          <p:blipFill rotWithShape="1">
            <a:blip r:embed="rId5">
              <a:alphaModFix/>
            </a:blip>
            <a:srcRect b="44561"/>
            <a:stretch/>
          </p:blipFill>
          <p:spPr>
            <a:xfrm>
              <a:off x="266600" y="3658959"/>
              <a:ext cx="467185" cy="258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80" name="Google Shape;980;p50"/>
          <p:cNvSpPr txBox="1"/>
          <p:nvPr/>
        </p:nvSpPr>
        <p:spPr>
          <a:xfrm>
            <a:off x="11575375" y="6442844"/>
            <a:ext cx="3078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i="0" u="none" strike="noStrike" cap="none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시간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981" name="Google Shape;981;p50"/>
          <p:cNvSpPr/>
          <p:nvPr/>
        </p:nvSpPr>
        <p:spPr>
          <a:xfrm>
            <a:off x="83891" y="139131"/>
            <a:ext cx="1610700" cy="303300"/>
          </a:xfrm>
          <a:prstGeom prst="roundRect">
            <a:avLst>
              <a:gd name="adj" fmla="val 50000"/>
            </a:avLst>
          </a:prstGeom>
          <a:solidFill>
            <a:srgbClr val="2F559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200" b="1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0</a:t>
            </a:r>
            <a:r>
              <a:rPr lang="ko-KR" sz="1200" b="1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차시 </a:t>
            </a:r>
            <a:r>
              <a:rPr lang="ko-KR" sz="1200" b="1" dirty="0" err="1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교수·학습</a:t>
            </a:r>
            <a:r>
              <a:rPr lang="ko-KR" sz="12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설계</a:t>
            </a:r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1697</Words>
  <Application>Microsoft Office PowerPoint</Application>
  <PresentationFormat>와이드스크린</PresentationFormat>
  <Paragraphs>204</Paragraphs>
  <Slides>4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4</vt:i4>
      </vt:variant>
    </vt:vector>
  </HeadingPairs>
  <TitlesOfParts>
    <vt:vector size="9" baseType="lpstr">
      <vt:lpstr>-apple-system</vt:lpstr>
      <vt:lpstr>Malgun Gothic</vt:lpstr>
      <vt:lpstr>Arial</vt:lpstr>
      <vt:lpstr>Office 테마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김정연</dc:creator>
  <cp:lastModifiedBy>연호 지</cp:lastModifiedBy>
  <cp:revision>7</cp:revision>
  <dcterms:modified xsi:type="dcterms:W3CDTF">2026-07-29T04:53:45Z</dcterms:modified>
</cp:coreProperties>
</file>