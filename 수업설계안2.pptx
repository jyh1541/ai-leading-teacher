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8"/>
  </p:notesMasterIdLst>
  <p:sldIdLst>
    <p:sldId id="277" r:id="rId3"/>
    <p:sldId id="279" r:id="rId4"/>
    <p:sldId id="280" r:id="rId5"/>
    <p:sldId id="281" r:id="rId6"/>
    <p:sldId id="282" r:id="rId7"/>
  </p:sldIdLst>
  <p:sldSz cx="12192000" cy="6858000"/>
  <p:notesSz cx="9866313" cy="142954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2AFC39-9312-4BDD-B99D-2AEC6354EE5F}">
  <a:tblStyle styleId="{CC2AFC39-9312-4BDD-B99D-2AEC6354EE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327CB27-3F5C-4547-81DB-43A206F6D8C2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tcBdr/>
        <a:fill>
          <a:solidFill>
            <a:srgbClr val="E0E0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0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43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275403" cy="717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88628" y="1"/>
            <a:ext cx="4275403" cy="717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44525" y="1787525"/>
            <a:ext cx="8577263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6632" y="6879680"/>
            <a:ext cx="7893050" cy="562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13578186"/>
            <a:ext cx="4275403" cy="71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88628" y="13578186"/>
            <a:ext cx="4275403" cy="71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7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7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5548679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4525" y="1787525"/>
            <a:ext cx="8575675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4" name="Google Shape;844;g3f5548679a2_0_0:notes"/>
          <p:cNvSpPr txBox="1">
            <a:spLocks noGrp="1"/>
          </p:cNvSpPr>
          <p:nvPr>
            <p:ph type="body" idx="1"/>
          </p:nvPr>
        </p:nvSpPr>
        <p:spPr>
          <a:xfrm>
            <a:off x="986630" y="6879673"/>
            <a:ext cx="7893000" cy="5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&lt;AI·디지털 도구 활용 단원 교수·학습 설계안 작성 방법&gt;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(개요)</a:t>
            </a:r>
            <a:r>
              <a:rPr lang="ko-KR" sz="2100"/>
              <a:t> 단원 수준에서 수업에 대한 기본 정보를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핵심 아이디어, 성취기준: 2022 개정 교육과정의 해당 단원 내용을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탐구 질문: 단원 전체를 관통하는 핵심 질문을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단원 재구성 의도: 교사의 수업관 및 교과와 학생 측면의 단원 설계의 의도를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학생 및 과제 분석: 학생의 선행 지식, 수준, 관심을 분석하고 이를 고려한 과제 분석에 대한 내용을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AI·디지털 도구: 단원에서 활용할 도구를 적고, 선택한 교육적 이유를 수업 의도와 연계하여 드러냄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(과정 중심 평가) </a:t>
            </a:r>
            <a:r>
              <a:rPr lang="ko-KR" sz="2100"/>
              <a:t>평가요소를 중심으로 심화·기본·기초 수준별 피드백과 평가도구(방법)를 작성 (진단, 학습, 평가, 피드백, 성찰의 흐름 속에서 AI·디지털 기능을 어디에 배치할지 의도적으로 선택 가능)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(AI·디지털 도구 활용 유의사항)</a:t>
            </a:r>
            <a:r>
              <a:rPr lang="ko-KR" sz="2100"/>
              <a:t> 개인정보 보호, 저작권, 정보 신뢰성 등 수업에서 AI·디지털 도구 활용 시 유의할 사항을 작성</a:t>
            </a:r>
            <a:endParaRPr sz="2100"/>
          </a:p>
        </p:txBody>
      </p:sp>
      <p:sp>
        <p:nvSpPr>
          <p:cNvPr id="845" name="Google Shape;845;g3f5548679a2_0_0:notes"/>
          <p:cNvSpPr txBox="1">
            <a:spLocks noGrp="1"/>
          </p:cNvSpPr>
          <p:nvPr>
            <p:ph type="sldNum" idx="12"/>
          </p:nvPr>
        </p:nvSpPr>
        <p:spPr>
          <a:xfrm>
            <a:off x="5588620" y="13578173"/>
            <a:ext cx="42753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2100"/>
              <a:t>1</a:t>
            </a:fld>
            <a:endParaRPr sz="2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f5548679a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4525" y="1787525"/>
            <a:ext cx="8575675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6" name="Google Shape;866;g3f5548679a2_0_16:notes"/>
          <p:cNvSpPr txBox="1">
            <a:spLocks noGrp="1"/>
          </p:cNvSpPr>
          <p:nvPr>
            <p:ph type="body" idx="1"/>
          </p:nvPr>
        </p:nvSpPr>
        <p:spPr>
          <a:xfrm>
            <a:off x="986630" y="6879673"/>
            <a:ext cx="7893000" cy="5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&lt;단원 교수·학습 설계 작성 방법&gt;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(세로축) </a:t>
            </a:r>
            <a:r>
              <a:rPr lang="ko-KR" sz="2100"/>
              <a:t>2022 개정 교육과정이 강조하는 학생 주도성을 탐구 유형으로 나누어 배치 (구조화된 탐구, 안내된 탐구, 개방형 탐구로 갈수록 학생 주도성이 커지며, 각 차시 상자를 해당 높이에 두어 단원 안에서 주도성이 점차 확대되는 흐름을 보여줄 수 있음)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(가로축) </a:t>
            </a:r>
            <a:r>
              <a:rPr lang="ko-KR" sz="2100"/>
              <a:t>시간을 나타내며, 단원 단위로 차시의 순서와 흐름을 배치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(차시 상자) </a:t>
            </a:r>
            <a:r>
              <a:rPr lang="ko-KR" sz="2100"/>
              <a:t>상자마다 차시 주제, 활동명, 세부 활동 내용을 작성</a:t>
            </a:r>
            <a:endParaRPr sz="2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2100" b="1"/>
              <a:t>(도구, 역할) </a:t>
            </a:r>
            <a:r>
              <a:rPr lang="ko-KR" sz="2100"/>
              <a:t>각 상자 아래에 해당 단계에서 활용하는 AI·디지털 도구와 역할을 작성 (AI·디지털 도구를 특정 활동에서 사용하지 않는 것도 교사의 의도적 선택임)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867" name="Google Shape;867;g3f5548679a2_0_16:notes"/>
          <p:cNvSpPr txBox="1">
            <a:spLocks noGrp="1"/>
          </p:cNvSpPr>
          <p:nvPr>
            <p:ph type="sldNum" idx="12"/>
          </p:nvPr>
        </p:nvSpPr>
        <p:spPr>
          <a:xfrm>
            <a:off x="5588620" y="13578173"/>
            <a:ext cx="42753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2100"/>
              <a:t>2</a:t>
            </a:fld>
            <a:endParaRPr sz="2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f5548679a2_97_0:notes"/>
          <p:cNvSpPr txBox="1">
            <a:spLocks noGrp="1"/>
          </p:cNvSpPr>
          <p:nvPr>
            <p:ph type="body" idx="1"/>
          </p:nvPr>
        </p:nvSpPr>
        <p:spPr>
          <a:xfrm>
            <a:off x="986630" y="6879673"/>
            <a:ext cx="7893000" cy="5628900"/>
          </a:xfrm>
          <a:prstGeom prst="rect">
            <a:avLst/>
          </a:prstGeom>
        </p:spPr>
        <p:txBody>
          <a:bodyPr spcFirstLastPara="1" wrap="square" lIns="135325" tIns="135325" rIns="135325" bIns="135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g3f5548679a2_9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4525" y="1787525"/>
            <a:ext cx="8575675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f5548679a2_97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4525" y="1787525"/>
            <a:ext cx="8575675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g3f5548679a2_97_15:notes"/>
          <p:cNvSpPr txBox="1">
            <a:spLocks noGrp="1"/>
          </p:cNvSpPr>
          <p:nvPr>
            <p:ph type="body" idx="1"/>
          </p:nvPr>
        </p:nvSpPr>
        <p:spPr>
          <a:xfrm>
            <a:off x="986630" y="6879673"/>
            <a:ext cx="7893000" cy="5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&lt;차시 교수·학습 설계 작성 방법(4단계)&gt;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(세로축) </a:t>
            </a:r>
            <a:r>
              <a:rPr lang="ko-KR" sz="2100"/>
              <a:t>2022 개정 교육과정이 강조하는 학생 참여중심 수업을 개별, 모둠, 전체 학습 형태로 나누어 작성함. 각 활동 상자를 해당 학습 형태 높이에 배치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(가로축) </a:t>
            </a:r>
            <a:r>
              <a:rPr lang="ko-KR" sz="2100"/>
              <a:t>시간을 나타내며, 한 시간 단위(~분)로 활동 단계의 순서와 흐름을 계획하여 배치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(활동 상자) </a:t>
            </a:r>
            <a:r>
              <a:rPr lang="ko-KR" sz="2100"/>
              <a:t>단계명(분), 활동제목, 교사 활동, 학생 활동을 작성함. 교사와 학생 활동을 구체화하여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(도구, 역할) </a:t>
            </a:r>
            <a:r>
              <a:rPr lang="ko-KR" sz="2100"/>
              <a:t>각 상자 아래에 해당 단계에서 활용하는 AI·디지털 도구와 역할을 작성 (AI·디지털 도구를 특정 활동에서 사용하지 않는 것도 교사의 의도적 선택임)</a:t>
            </a:r>
            <a:endParaRPr sz="2100"/>
          </a:p>
        </p:txBody>
      </p:sp>
      <p:sp>
        <p:nvSpPr>
          <p:cNvPr id="938" name="Google Shape;938;g3f5548679a2_97_15:notes"/>
          <p:cNvSpPr txBox="1">
            <a:spLocks noGrp="1"/>
          </p:cNvSpPr>
          <p:nvPr>
            <p:ph type="sldNum" idx="12"/>
          </p:nvPr>
        </p:nvSpPr>
        <p:spPr>
          <a:xfrm>
            <a:off x="5588620" y="13578173"/>
            <a:ext cx="42753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2100"/>
              <a:t>4</a:t>
            </a:fld>
            <a:endParaRPr sz="2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7" name="Google Shape;847;p46"/>
          <p:cNvGrpSpPr/>
          <p:nvPr/>
        </p:nvGrpSpPr>
        <p:grpSpPr>
          <a:xfrm>
            <a:off x="260060" y="134638"/>
            <a:ext cx="11671761" cy="338700"/>
            <a:chOff x="260060" y="463574"/>
            <a:chExt cx="11671761" cy="338700"/>
          </a:xfrm>
        </p:grpSpPr>
        <p:sp>
          <p:nvSpPr>
            <p:cNvPr id="848" name="Google Shape;848;p46"/>
            <p:cNvSpPr txBox="1"/>
            <p:nvPr/>
          </p:nvSpPr>
          <p:spPr>
            <a:xfrm>
              <a:off x="260060" y="463574"/>
              <a:ext cx="1015200" cy="338700"/>
            </a:xfrm>
            <a:prstGeom prst="rect">
              <a:avLst/>
            </a:prstGeom>
            <a:solidFill>
              <a:srgbClr val="2E75B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별첨1</a:t>
              </a:r>
              <a:endParaRPr sz="16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9" name="Google Shape;849;p46"/>
            <p:cNvSpPr txBox="1"/>
            <p:nvPr/>
          </p:nvSpPr>
          <p:spPr>
            <a:xfrm>
              <a:off x="1434521" y="463574"/>
              <a:ext cx="10497300" cy="338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 i="0" u="none" strike="noStrike" cap="none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AI·디지털</a:t>
              </a:r>
              <a:r>
                <a:rPr lang="ko-KR" sz="1600" b="1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도구 활용 </a:t>
              </a:r>
              <a:r>
                <a:rPr lang="ko-KR" sz="1600" b="1" i="0" u="none" strike="noStrike" cap="none" dirty="0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단원</a:t>
              </a:r>
              <a:r>
                <a:rPr lang="ko-KR" sz="1600" b="1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600" b="1" i="0" u="none" strike="noStrike" cap="none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교수·학습</a:t>
              </a:r>
              <a:r>
                <a:rPr lang="ko-KR" sz="1600" b="1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600" b="1" i="0" u="none" strike="noStrike" cap="none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설계안</a:t>
              </a:r>
              <a:r>
                <a:rPr lang="ko-KR" sz="1600" b="1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(양식)</a:t>
              </a:r>
              <a:endParaRPr sz="16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850" name="Google Shape;850;p46"/>
          <p:cNvGraphicFramePr/>
          <p:nvPr>
            <p:extLst>
              <p:ext uri="{D42A27DB-BD31-4B8C-83A1-F6EECF244321}">
                <p14:modId xmlns:p14="http://schemas.microsoft.com/office/powerpoint/2010/main" val="257417075"/>
              </p:ext>
            </p:extLst>
          </p:nvPr>
        </p:nvGraphicFramePr>
        <p:xfrm>
          <a:off x="248911" y="1226852"/>
          <a:ext cx="11694175" cy="2628930"/>
        </p:xfrm>
        <a:graphic>
          <a:graphicData uri="http://schemas.openxmlformats.org/drawingml/2006/table">
            <a:tbl>
              <a:tblPr firstRow="1" bandRow="1">
                <a:noFill/>
                <a:tableStyleId>{CC2AFC39-9312-4BDD-B99D-2AEC6354EE5F}</a:tableStyleId>
              </a:tblPr>
              <a:tblGrid>
                <a:gridCol w="84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43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u="none" strike="noStrike" cap="none" dirty="0" err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학교급</a:t>
                      </a:r>
                      <a:r>
                        <a:rPr lang="en-US" alt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학년-학기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고등학교 </a:t>
                      </a:r>
                      <a:endParaRPr lang="en-US" altLang="ko-KR" sz="11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학년 </a:t>
                      </a:r>
                      <a:r>
                        <a:rPr lang="en-US" altLang="ko-KR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학기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단원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대수 </a:t>
                      </a:r>
                      <a:r>
                        <a:rPr lang="en-US" altLang="ko-KR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― </a:t>
                      </a: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지수함수와 로그함수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대상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고등학교 </a:t>
                      </a:r>
                      <a:r>
                        <a:rPr lang="en-US" altLang="ko-KR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학년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지도교사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지연호</a:t>
                      </a:r>
                      <a:endParaRPr sz="11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핵심</a:t>
                      </a:r>
                      <a:endParaRPr sz="1100" b="1" u="none" strike="noStrike" cap="none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아이디어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지수함수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로그함수는 급격히 증감하는 대상이나 현상을 표현하고 이해하는 데 활용된다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endParaRPr lang="ko-KR" altLang="en-US" sz="11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성취기준</a:t>
                      </a:r>
                      <a:endParaRPr sz="11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[12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대수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01-05] 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상용로그를 이해하고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이를 실생활과 연결하여 문제를 해결할 수 있다</a:t>
                      </a:r>
                      <a:r>
                        <a:rPr lang="en-US" altLang="ko-KR" sz="110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endParaRPr lang="ko-KR" altLang="en-US" sz="110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탐구 질문</a:t>
                      </a:r>
                      <a:endParaRPr sz="1100" b="1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사실적</a:t>
                      </a:r>
                      <a:r>
                        <a:rPr lang="en-US" altLang="ko-KR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1100" b="1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단리와</a:t>
                      </a:r>
                      <a:r>
                        <a:rPr lang="ko-KR" altLang="en-US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복리의 원리합계는 각각 어떤 함수로 표현되는가</a:t>
                      </a:r>
                      <a:r>
                        <a:rPr lang="en-US" altLang="ko-KR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?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개념적</a:t>
                      </a:r>
                      <a:r>
                        <a:rPr lang="en-US" altLang="ko-KR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성장의 결과에서 시간을 알아내려면 왜 로그가 필요한가</a:t>
                      </a:r>
                      <a:r>
                        <a:rPr lang="en-US" altLang="ko-KR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?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논쟁적</a:t>
                      </a:r>
                      <a:r>
                        <a:rPr lang="en-US" altLang="ko-KR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"</a:t>
                      </a:r>
                      <a:r>
                        <a:rPr lang="ko-KR" altLang="en-US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 </a:t>
                      </a:r>
                      <a:r>
                        <a:rPr lang="en-US" altLang="ko-KR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5% </a:t>
                      </a:r>
                      <a:r>
                        <a:rPr lang="ko-KR" altLang="en-US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복리의 마법</a:t>
                      </a:r>
                      <a:r>
                        <a:rPr lang="en-US" altLang="ko-KR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 </a:t>
                      </a:r>
                      <a:r>
                        <a:rPr lang="ko-KR" altLang="en-US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광고는 과장인가</a:t>
                      </a:r>
                      <a:r>
                        <a:rPr lang="en-US" altLang="ko-KR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사실인가</a:t>
                      </a:r>
                      <a:r>
                        <a:rPr lang="en-US" altLang="ko-KR" sz="1100" b="1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?</a:t>
                      </a:r>
                      <a:endParaRPr lang="ko-KR" altLang="en-US" sz="1100" b="1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</a:t>
                      </a:r>
                      <a:r>
                        <a:rPr lang="ko-KR" sz="1100" b="1">
                          <a:solidFill>
                            <a:schemeClr val="lt1"/>
                          </a:solidFill>
                        </a:rPr>
                        <a:t>·</a:t>
                      </a: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디지털 도구</a:t>
                      </a:r>
                      <a:endParaRPr sz="11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ko-KR" sz="1100" dirty="0"/>
                        <a:t>Google Sheets </a:t>
                      </a:r>
                      <a:r>
                        <a:rPr lang="ko-KR" altLang="en-US" sz="1100" dirty="0"/>
                        <a:t>또는 </a:t>
                      </a:r>
                      <a:r>
                        <a:rPr lang="en-US" altLang="ko-KR" sz="1100" dirty="0"/>
                        <a:t>Excel,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1100" dirty="0"/>
                        <a:t>학교 승인 생성형 </a:t>
                      </a:r>
                      <a:r>
                        <a:rPr lang="en-US" altLang="ko-KR" sz="1100" dirty="0"/>
                        <a:t>AI(</a:t>
                      </a:r>
                      <a:r>
                        <a:rPr lang="ko-KR" altLang="en-US" sz="1100" dirty="0"/>
                        <a:t>검증 대상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비판 질문 생성</a:t>
                      </a:r>
                      <a:r>
                        <a:rPr lang="en-US" altLang="ko-KR" sz="1100" dirty="0"/>
                        <a:t>), Padlet</a:t>
                      </a:r>
                      <a:endParaRPr lang="ko-KR" altLang="en-US"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단원 재구성</a:t>
                      </a:r>
                      <a:endParaRPr sz="11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의도</a:t>
                      </a:r>
                      <a:endParaRPr sz="11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/>
                        <a:t>첫 아르바이트 월급에서 출발해 </a:t>
                      </a:r>
                      <a:r>
                        <a:rPr lang="en-US" altLang="ko-KR" sz="1100" dirty="0"/>
                        <a:t>"</a:t>
                      </a:r>
                      <a:r>
                        <a:rPr lang="ko-KR" altLang="en-US" sz="1100" dirty="0"/>
                        <a:t>내 돈이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배 되는 데 몇 년 걸리는가</a:t>
                      </a:r>
                      <a:r>
                        <a:rPr lang="en-US" altLang="ko-KR" sz="1100" dirty="0"/>
                        <a:t>?“ </a:t>
                      </a:r>
                      <a:r>
                        <a:rPr lang="ko-KR" altLang="en-US" sz="1100" dirty="0"/>
                        <a:t>라는 질문으로 단원을 관통한다</a:t>
                      </a:r>
                      <a:r>
                        <a:rPr lang="en-US" altLang="ko-KR" sz="1100" dirty="0"/>
                        <a:t>. </a:t>
                      </a:r>
                      <a:r>
                        <a:rPr lang="ko-KR" altLang="en-US" sz="1100" dirty="0"/>
                        <a:t>실제 공시 금리로 </a:t>
                      </a:r>
                      <a:r>
                        <a:rPr lang="ko-KR" altLang="en-US" sz="1100" dirty="0" err="1"/>
                        <a:t>단리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복리를 누적 계산해 지수적 성장을 발견하고</a:t>
                      </a:r>
                      <a:r>
                        <a:rPr lang="en-US" altLang="ko-KR" sz="1100" dirty="0"/>
                        <a:t>, 2</a:t>
                      </a:r>
                      <a:r>
                        <a:rPr lang="ko-KR" altLang="en-US" sz="1100" dirty="0"/>
                        <a:t>배 시점을 묻는 순간 로그의 필요성을 스스로 도출한다</a:t>
                      </a:r>
                      <a:r>
                        <a:rPr lang="en-US" altLang="ko-KR" sz="1100" dirty="0"/>
                        <a:t>. </a:t>
                      </a:r>
                      <a:r>
                        <a:rPr lang="ko-KR" altLang="en-US" sz="1100" dirty="0"/>
                        <a:t>상용로그로 </a:t>
                      </a:r>
                      <a:r>
                        <a:rPr lang="en-US" altLang="ko-KR" sz="1100" dirty="0"/>
                        <a:t>72</a:t>
                      </a:r>
                      <a:r>
                        <a:rPr lang="ko-KR" altLang="en-US" sz="1100" dirty="0"/>
                        <a:t>의 법칙을 검증해 </a:t>
                      </a:r>
                      <a:r>
                        <a:rPr lang="en-US" altLang="ko-KR" sz="1100" dirty="0"/>
                        <a:t>'</a:t>
                      </a:r>
                      <a:r>
                        <a:rPr lang="ko-KR" altLang="en-US" sz="1100" dirty="0"/>
                        <a:t>나만의 저축 설계서</a:t>
                      </a:r>
                      <a:r>
                        <a:rPr lang="en-US" altLang="ko-KR" sz="1100" dirty="0"/>
                        <a:t>’ </a:t>
                      </a:r>
                      <a:r>
                        <a:rPr lang="ko-KR" altLang="en-US" sz="1100" dirty="0"/>
                        <a:t>를 완성하고 반감기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로그 스케일 뉴스 읽기로 전이한다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금융상품 권유가 아닌 금융 문해력 함양 목적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학생 및 과제 분석</a:t>
                      </a:r>
                      <a:endParaRPr sz="110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학생은 복리를 선형적으로 예상하거나</a:t>
                      </a:r>
                      <a:r>
                        <a:rPr lang="en-US" altLang="ko-KR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("5%</a:t>
                      </a:r>
                      <a:r>
                        <a:rPr lang="ko-KR" altLang="en-US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면 </a:t>
                      </a:r>
                      <a:r>
                        <a:rPr lang="en-US" altLang="ko-KR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</a:t>
                      </a:r>
                      <a:r>
                        <a:rPr lang="ko-KR" altLang="en-US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년 뒤 </a:t>
                      </a:r>
                      <a:r>
                        <a:rPr lang="en-US" altLang="ko-KR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</a:t>
                      </a:r>
                      <a:r>
                        <a:rPr lang="en-US" altLang="ko-KR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"), </a:t>
                      </a:r>
                      <a:r>
                        <a:rPr lang="ko-KR" altLang="en-US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로그를 기호로만 암기하거나</a:t>
                      </a:r>
                      <a:r>
                        <a:rPr lang="en-US" altLang="ko-KR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AI</a:t>
                      </a:r>
                      <a:r>
                        <a:rPr lang="ko-KR" altLang="en-US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 재테크 설명을 무비판적으로 신뢰하기 쉽다</a:t>
                      </a:r>
                      <a:r>
                        <a:rPr lang="en-US" altLang="ko-KR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누적 계산</a:t>
                      </a:r>
                      <a:r>
                        <a:rPr lang="en-US" altLang="ko-KR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그래프 비교</a:t>
                      </a:r>
                      <a:r>
                        <a:rPr lang="en-US" altLang="ko-KR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2</a:t>
                      </a:r>
                      <a:r>
                        <a:rPr lang="ko-KR" altLang="en-US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 시점 표 탐색의 실패 경험</a:t>
                      </a:r>
                      <a:r>
                        <a:rPr lang="en-US" altLang="ko-KR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AI </a:t>
                      </a:r>
                      <a:r>
                        <a:rPr lang="ko-KR" altLang="en-US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답변 재계산 검증으로 </a:t>
                      </a:r>
                      <a:r>
                        <a:rPr lang="ko-KR" altLang="en-US" sz="1100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오개념을</a:t>
                      </a:r>
                      <a:r>
                        <a:rPr lang="ko-KR" altLang="en-US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교정한다</a:t>
                      </a:r>
                      <a:r>
                        <a:rPr lang="en-US" altLang="ko-KR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endParaRPr lang="ko-KR" altLang="en-US" sz="110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52" name="Google Shape;852;p46"/>
          <p:cNvSpPr/>
          <p:nvPr/>
        </p:nvSpPr>
        <p:spPr>
          <a:xfrm>
            <a:off x="3531765" y="673251"/>
            <a:ext cx="5128500" cy="353700"/>
          </a:xfrm>
          <a:prstGeom prst="roundRect">
            <a:avLst>
              <a:gd name="adj" fmla="val 50000"/>
            </a:avLst>
          </a:prstGeom>
          <a:solidFill>
            <a:srgbClr val="03A9F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( </a:t>
            </a:r>
            <a:r>
              <a:rPr lang="ko-KR" altLang="en-US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수학</a:t>
            </a:r>
            <a:r>
              <a:rPr lang="ko-KR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)</a:t>
            </a:r>
            <a:r>
              <a:rPr lang="ko-KR" sz="15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ko-KR" sz="15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AI·디지털</a:t>
            </a:r>
            <a:r>
              <a:rPr lang="ko-KR" sz="15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도구 활용 단원 </a:t>
            </a:r>
            <a:r>
              <a:rPr lang="ko-KR" sz="15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교수·학습설계안</a:t>
            </a:r>
            <a:endParaRPr sz="15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4" name="Google Shape;684;p41">
            <a:extLst>
              <a:ext uri="{FF2B5EF4-FFF2-40B4-BE49-F238E27FC236}">
                <a16:creationId xmlns:a16="http://schemas.microsoft.com/office/drawing/2014/main" id="{2BE77541-51E5-4BBD-B875-F371C20688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9652403"/>
              </p:ext>
            </p:extLst>
          </p:nvPr>
        </p:nvGraphicFramePr>
        <p:xfrm>
          <a:off x="260060" y="4262012"/>
          <a:ext cx="8064198" cy="24613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81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489">
                  <a:extLst>
                    <a:ext uri="{9D8B030D-6E8A-4147-A177-3AD203B41FA5}">
                      <a16:colId xmlns:a16="http://schemas.microsoft.com/office/drawing/2014/main" val="3406341981"/>
                    </a:ext>
                  </a:extLst>
                </a:gridCol>
                <a:gridCol w="1858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8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8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368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dirty="0" err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sym typeface="Malgun Gothic"/>
                        </a:rPr>
                        <a:t>영억</a:t>
                      </a:r>
                      <a:endParaRPr sz="8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ko-KR" sz="8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평가요소</a:t>
                      </a:r>
                      <a:endParaRPr sz="800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피드백</a:t>
                      </a:r>
                      <a:endParaRPr sz="8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평가도구</a:t>
                      </a:r>
                      <a:endParaRPr sz="800" b="1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(방법)</a:t>
                      </a:r>
                      <a:r>
                        <a:rPr lang="en-US" altLang="ko-KR" sz="8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</a:t>
                      </a:r>
                      <a:endParaRPr sz="800" b="1" dirty="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8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심화</a:t>
                      </a:r>
                      <a:endParaRPr sz="8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</a:t>
                      </a:r>
                      <a:endParaRPr sz="8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8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기초 </a:t>
                      </a:r>
                      <a:endParaRPr sz="8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229"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인지적 차원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 err="1">
                          <a:effectLst/>
                        </a:rPr>
                        <a:t>단리</a:t>
                      </a:r>
                      <a:r>
                        <a:rPr lang="en-US" altLang="ko-KR" sz="900" dirty="0">
                          <a:effectLst/>
                        </a:rPr>
                        <a:t>·</a:t>
                      </a:r>
                      <a:r>
                        <a:rPr lang="ko-KR" altLang="en-US" sz="900" dirty="0">
                          <a:effectLst/>
                        </a:rPr>
                        <a:t>복리 자료의 패턴 발견과 지수함수 표현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err="1">
                          <a:effectLst/>
                        </a:rPr>
                        <a:t>단리</a:t>
                      </a:r>
                      <a:r>
                        <a:rPr lang="en-US" altLang="ko-KR" sz="1000" dirty="0">
                          <a:effectLst/>
                        </a:rPr>
                        <a:t>·</a:t>
                      </a:r>
                      <a:r>
                        <a:rPr lang="ko-KR" altLang="en-US" sz="1000" dirty="0">
                          <a:effectLst/>
                        </a:rPr>
                        <a:t>복리 자료의 패턴을 스스로 찾아 지수함수로 일반화하고 그래프 성질과 연결해 설명함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두 성장의 차이를 발견하고 복리 원리합계를 지수함수로 표현함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안내를 받아 누적 계산을 수행하고 차이를 부분적으로 말함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effectLst/>
                        </a:rPr>
                        <a:t>Sheets </a:t>
                      </a:r>
                      <a:r>
                        <a:rPr lang="ko-KR" altLang="en-US" sz="1000" dirty="0">
                          <a:effectLst/>
                        </a:rPr>
                        <a:t>파일</a:t>
                      </a:r>
                      <a:r>
                        <a:rPr lang="en-US" altLang="ko-KR" sz="1000" dirty="0">
                          <a:effectLst/>
                        </a:rPr>
                        <a:t>, </a:t>
                      </a:r>
                      <a:r>
                        <a:rPr lang="ko-KR" altLang="en-US" sz="1000" dirty="0">
                          <a:effectLst/>
                        </a:rPr>
                        <a:t>그래프 비교 기록지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762"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과정적 차원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effectLst/>
                        </a:rPr>
                        <a:t>상용로그를 활용한 </a:t>
                      </a:r>
                      <a:r>
                        <a:rPr lang="en-US" altLang="ko-KR" sz="900" dirty="0">
                          <a:effectLst/>
                        </a:rPr>
                        <a:t>2</a:t>
                      </a:r>
                      <a:r>
                        <a:rPr lang="ko-KR" altLang="en-US" sz="900" dirty="0">
                          <a:effectLst/>
                        </a:rPr>
                        <a:t>배 시간 산출과 검증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여러 금리의 </a:t>
                      </a:r>
                      <a:r>
                        <a:rPr lang="en-US" altLang="ko-KR" sz="1000" dirty="0">
                          <a:effectLst/>
                        </a:rPr>
                        <a:t>2</a:t>
                      </a:r>
                      <a:r>
                        <a:rPr lang="ko-KR" altLang="en-US" sz="1000" dirty="0">
                          <a:effectLst/>
                        </a:rPr>
                        <a:t>배 시간으로 </a:t>
                      </a:r>
                      <a:r>
                        <a:rPr lang="en-US" altLang="ko-KR" sz="1000" dirty="0">
                          <a:effectLst/>
                        </a:rPr>
                        <a:t>72</a:t>
                      </a:r>
                      <a:r>
                        <a:rPr lang="ko-KR" altLang="en-US" sz="1000" dirty="0">
                          <a:effectLst/>
                        </a:rPr>
                        <a:t>의 법칙을 검증하고 오차 원인까지 탐구함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상용로그로 </a:t>
                      </a:r>
                      <a:r>
                        <a:rPr lang="en-US" altLang="ko-KR" sz="1000" dirty="0">
                          <a:effectLst/>
                        </a:rPr>
                        <a:t>2</a:t>
                      </a:r>
                      <a:r>
                        <a:rPr lang="ko-KR" altLang="en-US" sz="1000" dirty="0">
                          <a:effectLst/>
                        </a:rPr>
                        <a:t>배 시간을 구해 맥락에 맞게 해석함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안내를 받아 공학 도구로 </a:t>
                      </a:r>
                      <a:r>
                        <a:rPr lang="en-US" altLang="ko-KR" sz="1000" dirty="0">
                          <a:effectLst/>
                        </a:rPr>
                        <a:t>2</a:t>
                      </a:r>
                      <a:r>
                        <a:rPr lang="ko-KR" altLang="en-US" sz="1000" dirty="0">
                          <a:effectLst/>
                        </a:rPr>
                        <a:t>배 시간을 구함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상용로그 계산 기록</a:t>
                      </a:r>
                      <a:r>
                        <a:rPr lang="en-US" altLang="ko-KR" sz="1000" dirty="0">
                          <a:effectLst/>
                        </a:rPr>
                        <a:t>, </a:t>
                      </a:r>
                      <a:r>
                        <a:rPr lang="ko-KR" altLang="en-US" sz="1000" dirty="0">
                          <a:effectLst/>
                        </a:rPr>
                        <a:t>관찰 평가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64382"/>
                  </a:ext>
                </a:extLst>
              </a:tr>
              <a:tr h="691314"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소통</a:t>
                      </a:r>
                      <a:r>
                        <a:rPr lang="en-US" altLang="ko-KR" sz="1000" dirty="0">
                          <a:effectLst/>
                        </a:rPr>
                        <a:t>·</a:t>
                      </a:r>
                      <a:r>
                        <a:rPr lang="ko-KR" altLang="en-US" sz="1000" dirty="0">
                          <a:effectLst/>
                        </a:rPr>
                        <a:t>표현 차원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effectLst/>
                        </a:rPr>
                        <a:t>근거</a:t>
                      </a:r>
                      <a:r>
                        <a:rPr lang="en-US" altLang="ko-KR" sz="900" dirty="0">
                          <a:effectLst/>
                        </a:rPr>
                        <a:t>·</a:t>
                      </a:r>
                      <a:r>
                        <a:rPr lang="ko-KR" altLang="en-US" sz="900" dirty="0">
                          <a:effectLst/>
                        </a:rPr>
                        <a:t>한계를 갖춘 저축 설계서 작성과 공유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effectLst/>
                        </a:rPr>
                        <a:t>AI </a:t>
                      </a:r>
                      <a:r>
                        <a:rPr lang="ko-KR" altLang="en-US" sz="1000" dirty="0">
                          <a:effectLst/>
                        </a:rPr>
                        <a:t>검증 결과와 계산 근거를 연결한 설계서를 완성하고 설득력 있게 발표함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계산 근거를 반영한 설계서를 작성해 공유함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안내를 받아 설계서 일부를 작성함</a:t>
                      </a: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저축 설계서</a:t>
                      </a:r>
                      <a:r>
                        <a:rPr lang="en-US" altLang="ko-KR" sz="1000" dirty="0">
                          <a:effectLst/>
                        </a:rPr>
                        <a:t>, </a:t>
                      </a:r>
                      <a:r>
                        <a:rPr lang="ko-KR" altLang="en-US" sz="1000" dirty="0">
                          <a:effectLst/>
                        </a:rPr>
                        <a:t>동료평가</a:t>
                      </a:r>
                      <a:endParaRPr lang="en-US" altLang="ko-KR" sz="1000" dirty="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Google Shape;851;p46">
            <a:extLst>
              <a:ext uri="{FF2B5EF4-FFF2-40B4-BE49-F238E27FC236}">
                <a16:creationId xmlns:a16="http://schemas.microsoft.com/office/drawing/2014/main" id="{108907F2-685C-4CA7-9805-54A23A73D8E2}"/>
              </a:ext>
            </a:extLst>
          </p:cNvPr>
          <p:cNvSpPr/>
          <p:nvPr/>
        </p:nvSpPr>
        <p:spPr>
          <a:xfrm>
            <a:off x="158426" y="3904033"/>
            <a:ext cx="1334700" cy="3033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과정 중심 평가</a:t>
            </a:r>
            <a:endParaRPr dirty="0"/>
          </a:p>
        </p:txBody>
      </p:sp>
      <p:grpSp>
        <p:nvGrpSpPr>
          <p:cNvPr id="16" name="Google Shape;685;p41">
            <a:extLst>
              <a:ext uri="{FF2B5EF4-FFF2-40B4-BE49-F238E27FC236}">
                <a16:creationId xmlns:a16="http://schemas.microsoft.com/office/drawing/2014/main" id="{14011AEF-41DD-4491-ADA4-4AF91BE0DF65}"/>
              </a:ext>
            </a:extLst>
          </p:cNvPr>
          <p:cNvGrpSpPr/>
          <p:nvPr/>
        </p:nvGrpSpPr>
        <p:grpSpPr>
          <a:xfrm>
            <a:off x="8865716" y="4145971"/>
            <a:ext cx="2723600" cy="2296503"/>
            <a:chOff x="9219501" y="4852450"/>
            <a:chExt cx="2723600" cy="2296503"/>
          </a:xfrm>
        </p:grpSpPr>
        <p:sp>
          <p:nvSpPr>
            <p:cNvPr id="17" name="Google Shape;686;p41">
              <a:extLst>
                <a:ext uri="{FF2B5EF4-FFF2-40B4-BE49-F238E27FC236}">
                  <a16:creationId xmlns:a16="http://schemas.microsoft.com/office/drawing/2014/main" id="{34C288F2-5974-4755-889E-6D2EBA07279A}"/>
                </a:ext>
              </a:extLst>
            </p:cNvPr>
            <p:cNvSpPr/>
            <p:nvPr/>
          </p:nvSpPr>
          <p:spPr>
            <a:xfrm>
              <a:off x="9219501" y="5047964"/>
              <a:ext cx="2723600" cy="2100989"/>
            </a:xfrm>
            <a:prstGeom prst="roundRect">
              <a:avLst>
                <a:gd name="adj" fmla="val 4677"/>
              </a:avLst>
            </a:prstGeom>
            <a:solidFill>
              <a:srgbClr val="E5EBF7"/>
            </a:solidFill>
            <a:ln w="19050" cap="flat" cmpd="sng">
              <a:solidFill>
                <a:srgbClr val="2F559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4000" tIns="252000" rIns="5400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AI 생성 문장 그대로 제출 금지</a:t>
              </a:r>
              <a:endParaRPr sz="10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→ 반드시 자신의 언어로 재구성</a:t>
              </a:r>
              <a:b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AI 사용 시 </a:t>
              </a:r>
              <a:r>
                <a:rPr lang="ko-KR" sz="1000" b="0" i="0" u="none" strike="noStrike" cap="none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이름·연락처</a:t>
              </a:r>
              <a: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 개인정보 입력 금지</a:t>
              </a:r>
              <a:b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AI 피드백이 항상 정확하지 않음</a:t>
              </a:r>
              <a:endParaRPr sz="10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→ 학생이 직접 판단하도록 지도</a:t>
              </a:r>
              <a:b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</a:t>
              </a:r>
              <a:r>
                <a:rPr lang="ko-KR" sz="1000" b="0" i="0" u="none" strike="noStrike" cap="none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AI는</a:t>
              </a:r>
              <a: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보조 도구, 수업의 주체는 학생임을 지속 강조</a:t>
              </a:r>
              <a:b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이미지 삽입 시 </a:t>
              </a:r>
              <a:r>
                <a:rPr lang="ko-KR" sz="1000" b="0" i="0" u="none" strike="noStrike" cap="none" dirty="0" err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CC라이선스</a:t>
              </a:r>
              <a:r>
                <a:rPr lang="ko-KR" sz="1000" b="0" i="0" u="none" strike="noStrike" cap="none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이미지 사용 (저작권 교육 연계)</a:t>
              </a:r>
              <a:endParaRPr dirty="0"/>
            </a:p>
          </p:txBody>
        </p:sp>
        <p:grpSp>
          <p:nvGrpSpPr>
            <p:cNvPr id="18" name="Google Shape;687;p41">
              <a:extLst>
                <a:ext uri="{FF2B5EF4-FFF2-40B4-BE49-F238E27FC236}">
                  <a16:creationId xmlns:a16="http://schemas.microsoft.com/office/drawing/2014/main" id="{90B845F2-078A-434C-B946-C5A91D681A52}"/>
                </a:ext>
              </a:extLst>
            </p:cNvPr>
            <p:cNvGrpSpPr/>
            <p:nvPr/>
          </p:nvGrpSpPr>
          <p:grpSpPr>
            <a:xfrm>
              <a:off x="9305762" y="4852450"/>
              <a:ext cx="2551078" cy="433172"/>
              <a:chOff x="9079160" y="6446689"/>
              <a:chExt cx="2551078" cy="433172"/>
            </a:xfrm>
          </p:grpSpPr>
          <p:sp>
            <p:nvSpPr>
              <p:cNvPr id="19" name="Google Shape;688;p41">
                <a:extLst>
                  <a:ext uri="{FF2B5EF4-FFF2-40B4-BE49-F238E27FC236}">
                    <a16:creationId xmlns:a16="http://schemas.microsoft.com/office/drawing/2014/main" id="{B80F318F-3099-4499-8DED-7884F77587B6}"/>
                  </a:ext>
                </a:extLst>
              </p:cNvPr>
              <p:cNvSpPr/>
              <p:nvPr/>
            </p:nvSpPr>
            <p:spPr>
              <a:xfrm>
                <a:off x="9338690" y="6498067"/>
                <a:ext cx="2291548" cy="303278"/>
              </a:xfrm>
              <a:prstGeom prst="roundRect">
                <a:avLst>
                  <a:gd name="adj" fmla="val 50000"/>
                </a:avLst>
              </a:prstGeom>
              <a:solidFill>
                <a:srgbClr val="2F5597"/>
              </a:solidFill>
              <a:ln>
                <a:noFill/>
              </a:ln>
            </p:spPr>
            <p:txBody>
              <a:bodyPr spcFirstLastPara="1" wrap="square" lIns="14400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100" b="1" i="0" u="none" strike="noStrike" cap="none" dirty="0" err="1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AI·디지털</a:t>
                </a:r>
                <a:r>
                  <a:rPr lang="ko-KR" sz="1100" b="1" i="0" u="none" strike="noStrike" cap="none" dirty="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도구 활용 유의사항</a:t>
                </a:r>
                <a:endParaRPr dirty="0"/>
              </a:p>
            </p:txBody>
          </p:sp>
          <p:pic>
            <p:nvPicPr>
              <p:cNvPr id="20" name="Google Shape;689;p41">
                <a:extLst>
                  <a:ext uri="{FF2B5EF4-FFF2-40B4-BE49-F238E27FC236}">
                    <a16:creationId xmlns:a16="http://schemas.microsoft.com/office/drawing/2014/main" id="{5ACD042E-9BDB-4642-95CC-2A85B1C6DF4D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 flipH="1">
                <a:off x="9079160" y="6446689"/>
                <a:ext cx="433174" cy="4331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oogle Shape;869;p48"/>
          <p:cNvGrpSpPr/>
          <p:nvPr/>
        </p:nvGrpSpPr>
        <p:grpSpPr>
          <a:xfrm>
            <a:off x="745923" y="595886"/>
            <a:ext cx="11229528" cy="6090660"/>
            <a:chOff x="745923" y="3033212"/>
            <a:chExt cx="11229528" cy="3512694"/>
          </a:xfrm>
        </p:grpSpPr>
        <p:grpSp>
          <p:nvGrpSpPr>
            <p:cNvPr id="870" name="Google Shape;870;p48"/>
            <p:cNvGrpSpPr/>
            <p:nvPr/>
          </p:nvGrpSpPr>
          <p:grpSpPr>
            <a:xfrm>
              <a:off x="745923" y="3033212"/>
              <a:ext cx="11229528" cy="3512694"/>
              <a:chOff x="570454" y="1941446"/>
              <a:chExt cx="11434200" cy="4576800"/>
            </a:xfrm>
          </p:grpSpPr>
          <p:cxnSp>
            <p:nvCxnSpPr>
              <p:cNvPr id="871" name="Google Shape;871;p48"/>
              <p:cNvCxnSpPr/>
              <p:nvPr/>
            </p:nvCxnSpPr>
            <p:spPr>
              <a:xfrm>
                <a:off x="570454" y="6518246"/>
                <a:ext cx="11434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  <p:cxnSp>
            <p:nvCxnSpPr>
              <p:cNvPr id="872" name="Google Shape;872;p48"/>
              <p:cNvCxnSpPr/>
              <p:nvPr/>
            </p:nvCxnSpPr>
            <p:spPr>
              <a:xfrm rot="10800000">
                <a:off x="570454" y="1941446"/>
                <a:ext cx="0" cy="457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</p:grpSp>
        <p:cxnSp>
          <p:nvCxnSpPr>
            <p:cNvPr id="873" name="Google Shape;873;p48"/>
            <p:cNvCxnSpPr/>
            <p:nvPr/>
          </p:nvCxnSpPr>
          <p:spPr>
            <a:xfrm rot="10800000" flipH="1">
              <a:off x="768353" y="3521105"/>
              <a:ext cx="11114700" cy="5790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  <p:cxnSp>
          <p:nvCxnSpPr>
            <p:cNvPr id="874" name="Google Shape;874;p48"/>
            <p:cNvCxnSpPr/>
            <p:nvPr/>
          </p:nvCxnSpPr>
          <p:spPr>
            <a:xfrm>
              <a:off x="762000" y="4598507"/>
              <a:ext cx="11122500" cy="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  <p:cxnSp>
          <p:nvCxnSpPr>
            <p:cNvPr id="875" name="Google Shape;875;p48"/>
            <p:cNvCxnSpPr/>
            <p:nvPr/>
          </p:nvCxnSpPr>
          <p:spPr>
            <a:xfrm>
              <a:off x="768353" y="5618009"/>
              <a:ext cx="11114700" cy="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</p:grpSp>
      <p:cxnSp>
        <p:nvCxnSpPr>
          <p:cNvPr id="876" name="Google Shape;876;p48"/>
          <p:cNvCxnSpPr>
            <a:cxnSpLocks/>
            <a:stCxn id="877" idx="3"/>
            <a:endCxn id="878" idx="1"/>
          </p:cNvCxnSpPr>
          <p:nvPr/>
        </p:nvCxnSpPr>
        <p:spPr>
          <a:xfrm>
            <a:off x="2750490" y="4134151"/>
            <a:ext cx="399560" cy="116143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879" name="Google Shape;879;p48"/>
          <p:cNvGrpSpPr/>
          <p:nvPr/>
        </p:nvGrpSpPr>
        <p:grpSpPr>
          <a:xfrm>
            <a:off x="905675" y="3363505"/>
            <a:ext cx="1844955" cy="3080146"/>
            <a:chOff x="905624" y="2552258"/>
            <a:chExt cx="2391697" cy="3080146"/>
          </a:xfrm>
        </p:grpSpPr>
        <p:sp>
          <p:nvSpPr>
            <p:cNvPr id="880" name="Google Shape;880;p48"/>
            <p:cNvSpPr/>
            <p:nvPr/>
          </p:nvSpPr>
          <p:spPr>
            <a:xfrm>
              <a:off x="905721" y="4040604"/>
              <a:ext cx="2391600" cy="1591800"/>
            </a:xfrm>
            <a:prstGeom prst="roundRect">
              <a:avLst>
                <a:gd name="adj" fmla="val 6381"/>
              </a:avLst>
            </a:prstGeom>
            <a:solidFill>
              <a:srgbClr val="EEE5FF"/>
            </a:solidFill>
            <a:ln w="12700" cap="flat" cmpd="sng">
              <a:solidFill>
                <a:srgbClr val="9965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도구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</a:t>
              </a: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은행연합회 </a:t>
              </a:r>
              <a:r>
                <a:rPr lang="ko-KR" altLang="en-US" sz="800" b="1" dirty="0" err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소비자포털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Padlet</a:t>
              </a:r>
            </a:p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역할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</a:t>
              </a: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실제 금리 자료로 문제의식을 일으키고 선개념을 수집함</a:t>
              </a:r>
              <a:endParaRPr sz="8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881" name="Google Shape;881;p48"/>
            <p:cNvGrpSpPr/>
            <p:nvPr/>
          </p:nvGrpSpPr>
          <p:grpSpPr>
            <a:xfrm>
              <a:off x="905624" y="2552258"/>
              <a:ext cx="2391515" cy="1409946"/>
              <a:chOff x="2194121" y="4892040"/>
              <a:chExt cx="1381500" cy="1409946"/>
            </a:xfrm>
          </p:grpSpPr>
          <p:sp>
            <p:nvSpPr>
              <p:cNvPr id="877" name="Google Shape;877;p48"/>
              <p:cNvSpPr/>
              <p:nvPr/>
            </p:nvSpPr>
            <p:spPr>
              <a:xfrm>
                <a:off x="2194121" y="5023386"/>
                <a:ext cx="1381500" cy="1278600"/>
              </a:xfrm>
              <a:prstGeom prst="roundRect">
                <a:avLst>
                  <a:gd name="adj" fmla="val 3340"/>
                </a:avLst>
              </a:prstGeom>
              <a:solidFill>
                <a:schemeClr val="lt1"/>
              </a:solidFill>
              <a:ln w="19050" cap="flat" cmpd="sng">
                <a:solidFill>
                  <a:srgbClr val="9965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algn="l"/>
                <a:r>
                  <a:rPr lang="ko-KR" altLang="en-US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첫 월급 </a:t>
                </a:r>
                <a:r>
                  <a:rPr lang="en-US" altLang="ko-KR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100</a:t>
                </a:r>
                <a:r>
                  <a:rPr lang="ko-KR" altLang="en-US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만 원</a:t>
                </a:r>
                <a:r>
                  <a:rPr lang="en-US" altLang="ko-KR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, </a:t>
                </a:r>
                <a:r>
                  <a:rPr lang="ko-KR" altLang="en-US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어디에 맡길까</a:t>
                </a:r>
                <a:r>
                  <a:rPr lang="en-US" altLang="ko-KR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? [</a:t>
                </a:r>
                <a:r>
                  <a:rPr lang="ko-KR" altLang="en-US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관계 맺기</a:t>
                </a:r>
                <a:r>
                  <a:rPr lang="en-US" altLang="ko-KR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]</a:t>
                </a:r>
              </a:p>
              <a:p>
                <a:pPr algn="l"/>
                <a:endParaRPr lang="en-US" altLang="ko-KR" sz="8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목돈 사용 계획 공유와 </a:t>
                </a:r>
                <a:r>
                  <a:rPr lang="en-US" altLang="ko-KR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'</a:t>
                </a:r>
                <a:r>
                  <a:rPr lang="ko-KR" altLang="en-US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소비 </a:t>
                </a:r>
                <a:r>
                  <a:rPr lang="en-US" altLang="ko-KR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vs </a:t>
                </a:r>
                <a:r>
                  <a:rPr lang="ko-KR" altLang="en-US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저축</a:t>
                </a:r>
                <a:r>
                  <a:rPr lang="en-US" altLang="ko-KR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' </a:t>
                </a:r>
                <a:r>
                  <a:rPr lang="ko-KR" altLang="en-US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즉석 투표</a:t>
                </a:r>
                <a:endParaRPr lang="en-US" altLang="ko-KR" sz="8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은행연합회 공시 금리 비교 탐색</a:t>
                </a:r>
                <a:r>
                  <a:rPr lang="en-US" altLang="ko-KR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- "2</a:t>
                </a:r>
                <a:r>
                  <a:rPr lang="ko-KR" altLang="en-US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배 되는 데 몇 년</a:t>
                </a:r>
                <a:r>
                  <a:rPr lang="en-US" altLang="ko-KR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?" </a:t>
                </a:r>
                <a:r>
                  <a:rPr lang="ko-KR" altLang="en-US" sz="8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예상값</a:t>
                </a:r>
                <a:r>
                  <a:rPr lang="ko-KR" altLang="en-US" sz="8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게시와 근거 토의</a:t>
                </a:r>
              </a:p>
            </p:txBody>
          </p:sp>
          <p:sp>
            <p:nvSpPr>
              <p:cNvPr id="882" name="Google Shape;882;p48"/>
              <p:cNvSpPr/>
              <p:nvPr/>
            </p:nvSpPr>
            <p:spPr>
              <a:xfrm>
                <a:off x="2274652" y="4892040"/>
                <a:ext cx="1221900" cy="264300"/>
              </a:xfrm>
              <a:prstGeom prst="roundRect">
                <a:avLst>
                  <a:gd name="adj" fmla="val 50000"/>
                </a:avLst>
              </a:prstGeom>
              <a:solidFill>
                <a:srgbClr val="9965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8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1차시</a:t>
                </a:r>
                <a:endParaRPr sz="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3" name="Google Shape;883;p48"/>
          <p:cNvGrpSpPr/>
          <p:nvPr/>
        </p:nvGrpSpPr>
        <p:grpSpPr>
          <a:xfrm>
            <a:off x="9883124" y="24704"/>
            <a:ext cx="1844880" cy="3677361"/>
            <a:chOff x="9379471" y="759196"/>
            <a:chExt cx="2391600" cy="2452882"/>
          </a:xfrm>
        </p:grpSpPr>
        <p:sp>
          <p:nvSpPr>
            <p:cNvPr id="884" name="Google Shape;884;p48"/>
            <p:cNvSpPr/>
            <p:nvPr/>
          </p:nvSpPr>
          <p:spPr>
            <a:xfrm>
              <a:off x="9379471" y="2100578"/>
              <a:ext cx="2391600" cy="1111500"/>
            </a:xfrm>
            <a:prstGeom prst="roundRect">
              <a:avLst>
                <a:gd name="adj" fmla="val 6381"/>
              </a:avLst>
            </a:prstGeom>
            <a:solidFill>
              <a:srgbClr val="FFF3F4"/>
            </a:solidFill>
            <a:ln w="12700" cap="flat" cmpd="sng">
              <a:solidFill>
                <a:srgbClr val="FF536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도구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Google Slides, Padlet</a:t>
              </a:r>
            </a:p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역할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</a:t>
              </a: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산출물을 공유하고 근거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·</a:t>
              </a: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한계를 </a:t>
              </a:r>
              <a:r>
                <a:rPr lang="ko-KR" altLang="en-US" sz="800" b="1" dirty="0" err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상호평가함</a:t>
              </a:r>
              <a:endParaRPr sz="8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885" name="Google Shape;885;p48"/>
            <p:cNvGrpSpPr/>
            <p:nvPr/>
          </p:nvGrpSpPr>
          <p:grpSpPr>
            <a:xfrm>
              <a:off x="9379471" y="759196"/>
              <a:ext cx="2391515" cy="1228966"/>
              <a:chOff x="2194121" y="4892040"/>
              <a:chExt cx="1381500" cy="1228966"/>
            </a:xfrm>
          </p:grpSpPr>
          <p:sp>
            <p:nvSpPr>
              <p:cNvPr id="886" name="Google Shape;886;p48"/>
              <p:cNvSpPr/>
              <p:nvPr/>
            </p:nvSpPr>
            <p:spPr>
              <a:xfrm>
                <a:off x="2194121" y="5023390"/>
                <a:ext cx="1381500" cy="1097616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FF536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성장을 읽는 눈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―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세상의 지수와 로그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[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전이하기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·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성찰하기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]</a:t>
                </a:r>
              </a:p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Tx/>
                  <a:buChar char="-"/>
                </a:pP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반감기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·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데시벨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·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지진 규모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·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구독자 성장 중 </a:t>
                </a:r>
                <a:r>
                  <a:rPr lang="ko-KR" altLang="en-US" sz="800" dirty="0" err="1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택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전이 과제</a:t>
                </a:r>
                <a:endParaRPr lang="en-US" altLang="ko-KR"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Tx/>
                  <a:buChar char="-"/>
                </a:pP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저축 설계서와 전이 과제 발표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·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상호평가</a:t>
                </a:r>
                <a:endParaRPr lang="en-US" altLang="ko-KR"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Tx/>
                  <a:buChar char="-"/>
                </a:pP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최초 투표와 현재 판단을 비교하는 성찰 일지 작성</a:t>
                </a:r>
              </a:p>
            </p:txBody>
          </p:sp>
          <p:sp>
            <p:nvSpPr>
              <p:cNvPr id="887" name="Google Shape;887;p48"/>
              <p:cNvSpPr/>
              <p:nvPr/>
            </p:nvSpPr>
            <p:spPr>
              <a:xfrm>
                <a:off x="2274652" y="4892040"/>
                <a:ext cx="1221900" cy="206400"/>
              </a:xfrm>
              <a:prstGeom prst="roundRect">
                <a:avLst>
                  <a:gd name="adj" fmla="val 50000"/>
                </a:avLst>
              </a:prstGeom>
              <a:solidFill>
                <a:srgbClr val="FF536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8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5차시</a:t>
                </a:r>
                <a:endParaRPr sz="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8" name="Google Shape;888;p48"/>
          <p:cNvGrpSpPr/>
          <p:nvPr/>
        </p:nvGrpSpPr>
        <p:grpSpPr>
          <a:xfrm>
            <a:off x="7638724" y="1536137"/>
            <a:ext cx="1845844" cy="3106589"/>
            <a:chOff x="6554835" y="2366460"/>
            <a:chExt cx="2392850" cy="2497459"/>
          </a:xfrm>
        </p:grpSpPr>
        <p:sp>
          <p:nvSpPr>
            <p:cNvPr id="889" name="Google Shape;889;p48"/>
            <p:cNvSpPr/>
            <p:nvPr/>
          </p:nvSpPr>
          <p:spPr>
            <a:xfrm>
              <a:off x="6556085" y="3835519"/>
              <a:ext cx="2391600" cy="1028400"/>
            </a:xfrm>
            <a:prstGeom prst="roundRect">
              <a:avLst>
                <a:gd name="adj" fmla="val 6381"/>
              </a:avLst>
            </a:prstGeom>
            <a:solidFill>
              <a:srgbClr val="FFF7DD"/>
            </a:solidFill>
            <a:ln w="12700" cap="flat" cmpd="sng">
              <a:solidFill>
                <a:srgbClr val="FFC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도구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Google Sheets, </a:t>
              </a: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학교 승인 생성형 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</a:t>
              </a:r>
            </a:p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역할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</a:t>
              </a: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설계서 계산을 처리하고 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</a:t>
              </a: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는 비판 질문 생성에만 사용함</a:t>
              </a:r>
              <a:endParaRPr sz="8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890" name="Google Shape;890;p48"/>
            <p:cNvGrpSpPr/>
            <p:nvPr/>
          </p:nvGrpSpPr>
          <p:grpSpPr>
            <a:xfrm>
              <a:off x="6554835" y="2366460"/>
              <a:ext cx="2391515" cy="1426009"/>
              <a:chOff x="2194109" y="4892041"/>
              <a:chExt cx="1381500" cy="1426009"/>
            </a:xfrm>
          </p:grpSpPr>
          <p:sp>
            <p:nvSpPr>
              <p:cNvPr id="891" name="Google Shape;891;p48"/>
              <p:cNvSpPr/>
              <p:nvPr/>
            </p:nvSpPr>
            <p:spPr>
              <a:xfrm>
                <a:off x="2194109" y="5023392"/>
                <a:ext cx="1381500" cy="1294658"/>
              </a:xfrm>
              <a:prstGeom prst="roundRect">
                <a:avLst>
                  <a:gd name="adj" fmla="val 2794"/>
                </a:avLst>
              </a:prstGeom>
              <a:solidFill>
                <a:schemeClr val="lt1"/>
              </a:solidFill>
              <a:ln w="19050" cap="flat" cmpd="sng">
                <a:solidFill>
                  <a:srgbClr val="FFC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0.1%p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와 물가의 습격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―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저축 설계서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[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조직 및 일반화하기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]</a:t>
                </a:r>
              </a:p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Tx/>
                  <a:buChar char="-"/>
                </a:pP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금리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0.1%p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차이가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30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년 뒤 만드는 차이 계산</a:t>
                </a:r>
                <a:endParaRPr lang="en-US" altLang="ko-KR"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Tx/>
                  <a:buChar char="-"/>
                </a:pP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목표 금액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·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기간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·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금리를 로그로 역산한 저축 설계서 작성</a:t>
                </a:r>
                <a:endParaRPr lang="en-US" altLang="ko-KR"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Tx/>
                  <a:buChar char="-"/>
                </a:pP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발견한 패턴을 일반화 문장으로 진술</a:t>
                </a:r>
              </a:p>
            </p:txBody>
          </p:sp>
          <p:sp>
            <p:nvSpPr>
              <p:cNvPr id="892" name="Google Shape;892;p48"/>
              <p:cNvSpPr/>
              <p:nvPr/>
            </p:nvSpPr>
            <p:spPr>
              <a:xfrm>
                <a:off x="2274652" y="4892041"/>
                <a:ext cx="1221900" cy="212400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8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4차시</a:t>
                </a:r>
                <a:endParaRPr sz="8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893" name="Google Shape;893;p48"/>
          <p:cNvSpPr txBox="1"/>
          <p:nvPr/>
        </p:nvSpPr>
        <p:spPr>
          <a:xfrm>
            <a:off x="11575375" y="6442844"/>
            <a:ext cx="307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894" name="Google Shape;894;p48"/>
          <p:cNvGrpSpPr/>
          <p:nvPr/>
        </p:nvGrpSpPr>
        <p:grpSpPr>
          <a:xfrm>
            <a:off x="5394350" y="1553266"/>
            <a:ext cx="1844955" cy="3430781"/>
            <a:chOff x="3730231" y="557303"/>
            <a:chExt cx="2391697" cy="3430781"/>
          </a:xfrm>
        </p:grpSpPr>
        <p:sp>
          <p:nvSpPr>
            <p:cNvPr id="895" name="Google Shape;895;p48"/>
            <p:cNvSpPr/>
            <p:nvPr/>
          </p:nvSpPr>
          <p:spPr>
            <a:xfrm>
              <a:off x="3730328" y="2304184"/>
              <a:ext cx="2391600" cy="1683900"/>
            </a:xfrm>
            <a:prstGeom prst="roundRect">
              <a:avLst>
                <a:gd name="adj" fmla="val 6381"/>
              </a:avLst>
            </a:prstGeom>
            <a:solidFill>
              <a:srgbClr val="E1F7FF"/>
            </a:solidFill>
            <a:ln w="12700" cap="flat" cmpd="sng">
              <a:solidFill>
                <a:srgbClr val="00B0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도구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Google Sheets, </a:t>
              </a: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학교 승인 생성형 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</a:t>
              </a:r>
            </a:p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역할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AI</a:t>
              </a: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는 검증 대상 설명을 제공하고 학생이 계산으로 검증함</a:t>
              </a:r>
              <a:endParaRPr sz="8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896" name="Google Shape;896;p48"/>
            <p:cNvGrpSpPr/>
            <p:nvPr/>
          </p:nvGrpSpPr>
          <p:grpSpPr>
            <a:xfrm>
              <a:off x="3730231" y="557303"/>
              <a:ext cx="2391515" cy="1766490"/>
              <a:chOff x="2194116" y="4898948"/>
              <a:chExt cx="1381500" cy="1766490"/>
            </a:xfrm>
          </p:grpSpPr>
          <p:sp>
            <p:nvSpPr>
              <p:cNvPr id="897" name="Google Shape;897;p48"/>
              <p:cNvSpPr/>
              <p:nvPr/>
            </p:nvSpPr>
            <p:spPr>
              <a:xfrm>
                <a:off x="2194116" y="5023384"/>
                <a:ext cx="1381500" cy="1642054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00B0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배가 되는 날을 묻다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―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로그의 발견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[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조사하기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]</a:t>
                </a:r>
              </a:p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Tx/>
                  <a:buChar char="-"/>
                </a:pP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표에서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배 시점 탐색과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'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정확한 시간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'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의 한계 발견</a:t>
                </a:r>
                <a:endParaRPr lang="en-US" altLang="ko-KR"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Tx/>
                  <a:buChar char="-"/>
                </a:pP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상용로그로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배 시간 산출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, </a:t>
                </a:r>
                <a:r>
                  <a:rPr lang="ko-KR" altLang="en-US" sz="800" dirty="0" err="1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금리별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계산에서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72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의 법칙 발견</a:t>
                </a:r>
                <a:endParaRPr lang="en-US" altLang="ko-KR"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Tx/>
                  <a:buChar char="-"/>
                </a:pP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AI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의 복리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·72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의 법칙 설명을 상용로그 계산으로 </a:t>
                </a:r>
                <a:r>
                  <a:rPr lang="ko-KR" altLang="en-US" sz="800" dirty="0" err="1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팩트체크</a:t>
                </a:r>
                <a:endParaRPr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98" name="Google Shape;898;p48"/>
              <p:cNvSpPr/>
              <p:nvPr/>
            </p:nvSpPr>
            <p:spPr>
              <a:xfrm>
                <a:off x="2274652" y="4898948"/>
                <a:ext cx="1221900" cy="264300"/>
              </a:xfrm>
              <a:prstGeom prst="roundRect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800" b="1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3차시</a:t>
                </a:r>
                <a:endParaRPr sz="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99" name="Google Shape;899;p48"/>
          <p:cNvGrpSpPr/>
          <p:nvPr/>
        </p:nvGrpSpPr>
        <p:grpSpPr>
          <a:xfrm>
            <a:off x="3150025" y="3364670"/>
            <a:ext cx="1844880" cy="3073528"/>
            <a:chOff x="3730195" y="550395"/>
            <a:chExt cx="2391600" cy="3073528"/>
          </a:xfrm>
        </p:grpSpPr>
        <p:sp>
          <p:nvSpPr>
            <p:cNvPr id="900" name="Google Shape;900;p48"/>
            <p:cNvSpPr/>
            <p:nvPr/>
          </p:nvSpPr>
          <p:spPr>
            <a:xfrm>
              <a:off x="3730195" y="2282023"/>
              <a:ext cx="2391600" cy="1341900"/>
            </a:xfrm>
            <a:prstGeom prst="roundRect">
              <a:avLst>
                <a:gd name="adj" fmla="val 6381"/>
              </a:avLst>
            </a:prstGeom>
            <a:solidFill>
              <a:srgbClr val="E0F8F6"/>
            </a:solidFill>
            <a:ln w="12700" cap="flat" cmpd="sng">
              <a:solidFill>
                <a:srgbClr val="29B6A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도구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Google Sheets, </a:t>
              </a:r>
            </a:p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역할</a:t>
              </a:r>
              <a:r>
                <a:rPr lang="en-US" altLang="ko-KR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</a:t>
              </a:r>
              <a:r>
                <a:rPr lang="ko-KR" altLang="en-US" sz="800" b="1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누적 계산을 대신 처리해 패턴 발견과 함수 표현에 집중하게 함</a:t>
              </a:r>
              <a:endParaRPr sz="8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901" name="Google Shape;901;p48"/>
            <p:cNvGrpSpPr/>
            <p:nvPr/>
          </p:nvGrpSpPr>
          <p:grpSpPr>
            <a:xfrm>
              <a:off x="3730227" y="550395"/>
              <a:ext cx="2391515" cy="1639895"/>
              <a:chOff x="2194114" y="4892040"/>
              <a:chExt cx="1381500" cy="1639895"/>
            </a:xfrm>
          </p:grpSpPr>
          <p:sp>
            <p:nvSpPr>
              <p:cNvPr id="878" name="Google Shape;878;p48"/>
              <p:cNvSpPr/>
              <p:nvPr/>
            </p:nvSpPr>
            <p:spPr>
              <a:xfrm>
                <a:off x="2194114" y="5023392"/>
                <a:ext cx="1381500" cy="1508543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29B6AA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ko-KR" altLang="en-US" sz="800" dirty="0" err="1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단리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vs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복리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―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성장의 두 얼굴 </a:t>
                </a:r>
                <a:endParaRPr lang="en-US" altLang="ko-KR"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lang="en-US" altLang="ko-KR"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Tx/>
                  <a:buChar char="-"/>
                </a:pP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스프레드시트로 </a:t>
                </a:r>
                <a:r>
                  <a:rPr lang="ko-KR" altLang="en-US" sz="800" dirty="0" err="1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단리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·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복리 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30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년 누적 계산 비교</a:t>
                </a:r>
                <a:endParaRPr lang="en-US" altLang="ko-KR"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Tx/>
                  <a:buChar char="-"/>
                </a:pP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더해지는 성장과 곱해지는 성장의 패턴 발견</a:t>
                </a:r>
                <a:endParaRPr lang="en-US" altLang="ko-KR"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Tx/>
                  <a:buChar char="-"/>
                </a:pPr>
                <a:r>
                  <a:rPr lang="ko-KR" altLang="en-US" sz="800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복리 원리합계의 지수함수 표현과 그래프 성질 확인</a:t>
                </a:r>
                <a:endParaRPr sz="8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02" name="Google Shape;902;p48"/>
              <p:cNvSpPr/>
              <p:nvPr/>
            </p:nvSpPr>
            <p:spPr>
              <a:xfrm>
                <a:off x="2274652" y="4892040"/>
                <a:ext cx="1221900" cy="264300"/>
              </a:xfrm>
              <a:prstGeom prst="roundRect">
                <a:avLst>
                  <a:gd name="adj" fmla="val 50000"/>
                </a:avLst>
              </a:prstGeom>
              <a:solidFill>
                <a:srgbClr val="29B6A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800" b="1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2차시</a:t>
                </a:r>
                <a:endParaRPr sz="80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903" name="Google Shape;903;p48"/>
          <p:cNvCxnSpPr>
            <a:cxnSpLocks/>
            <a:stCxn id="878" idx="3"/>
            <a:endCxn id="897" idx="1"/>
          </p:cNvCxnSpPr>
          <p:nvPr/>
        </p:nvCxnSpPr>
        <p:spPr>
          <a:xfrm flipV="1">
            <a:off x="4994864" y="2498729"/>
            <a:ext cx="399486" cy="1751565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904" name="Google Shape;904;p48"/>
          <p:cNvCxnSpPr>
            <a:cxnSpLocks/>
            <a:stCxn id="897" idx="3"/>
            <a:endCxn id="891" idx="1"/>
          </p:cNvCxnSpPr>
          <p:nvPr/>
        </p:nvCxnSpPr>
        <p:spPr>
          <a:xfrm>
            <a:off x="7239165" y="2498729"/>
            <a:ext cx="399559" cy="6008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905" name="Google Shape;905;p48"/>
          <p:cNvCxnSpPr>
            <a:cxnSpLocks/>
            <a:stCxn id="891" idx="3"/>
            <a:endCxn id="886" idx="1"/>
          </p:cNvCxnSpPr>
          <p:nvPr/>
        </p:nvCxnSpPr>
        <p:spPr>
          <a:xfrm flipV="1">
            <a:off x="9483538" y="1044397"/>
            <a:ext cx="399587" cy="146034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906" name="Google Shape;906;p48"/>
          <p:cNvSpPr/>
          <p:nvPr/>
        </p:nvSpPr>
        <p:spPr>
          <a:xfrm>
            <a:off x="83891" y="139131"/>
            <a:ext cx="1610700" cy="303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단원 교수·학습 설계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07" name="Google Shape;907;p48"/>
          <p:cNvSpPr txBox="1"/>
          <p:nvPr/>
        </p:nvSpPr>
        <p:spPr>
          <a:xfrm>
            <a:off x="140924" y="542805"/>
            <a:ext cx="646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주도성</a:t>
            </a:r>
            <a:endParaRPr sz="1200" b="1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08" name="Google Shape;908;p48"/>
          <p:cNvGrpSpPr/>
          <p:nvPr/>
        </p:nvGrpSpPr>
        <p:grpSpPr>
          <a:xfrm>
            <a:off x="155329" y="2886124"/>
            <a:ext cx="461700" cy="833338"/>
            <a:chOff x="155329" y="2709955"/>
            <a:chExt cx="461700" cy="833338"/>
          </a:xfrm>
        </p:grpSpPr>
        <p:sp>
          <p:nvSpPr>
            <p:cNvPr id="909" name="Google Shape;909;p48"/>
            <p:cNvSpPr txBox="1"/>
            <p:nvPr/>
          </p:nvSpPr>
          <p:spPr>
            <a:xfrm>
              <a:off x="155329" y="3173993"/>
              <a:ext cx="46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안내된</a:t>
              </a:r>
              <a:endParaRPr sz="1200" b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탐구</a:t>
              </a:r>
              <a:endParaRPr>
                <a:solidFill>
                  <a:schemeClr val="tx1"/>
                </a:solidFill>
              </a:endParaRPr>
            </a:p>
          </p:txBody>
        </p:sp>
        <p:pic>
          <p:nvPicPr>
            <p:cNvPr id="910" name="Google Shape;910;p48"/>
            <p:cNvPicPr preferRelativeResize="0"/>
            <p:nvPr/>
          </p:nvPicPr>
          <p:blipFill rotWithShape="1">
            <a:blip r:embed="rId3">
              <a:alphaModFix/>
            </a:blip>
            <a:srcRect l="35942" r="31387" b="13450"/>
            <a:stretch/>
          </p:blipFill>
          <p:spPr>
            <a:xfrm>
              <a:off x="167020" y="2709955"/>
              <a:ext cx="438283" cy="4640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1" name="Google Shape;911;p48"/>
          <p:cNvGrpSpPr/>
          <p:nvPr/>
        </p:nvGrpSpPr>
        <p:grpSpPr>
          <a:xfrm>
            <a:off x="78385" y="4659758"/>
            <a:ext cx="615600" cy="835307"/>
            <a:chOff x="78385" y="4520008"/>
            <a:chExt cx="615600" cy="835307"/>
          </a:xfrm>
        </p:grpSpPr>
        <p:sp>
          <p:nvSpPr>
            <p:cNvPr id="912" name="Google Shape;912;p48"/>
            <p:cNvSpPr txBox="1"/>
            <p:nvPr/>
          </p:nvSpPr>
          <p:spPr>
            <a:xfrm>
              <a:off x="78385" y="4986015"/>
              <a:ext cx="6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구조화된</a:t>
              </a:r>
              <a:endParaRPr sz="1200" b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탐구</a:t>
              </a:r>
              <a:endParaRPr>
                <a:solidFill>
                  <a:schemeClr val="tx1"/>
                </a:solidFill>
              </a:endParaRPr>
            </a:p>
          </p:txBody>
        </p:sp>
        <p:pic>
          <p:nvPicPr>
            <p:cNvPr id="913" name="Google Shape;913;p48"/>
            <p:cNvPicPr preferRelativeResize="0"/>
            <p:nvPr/>
          </p:nvPicPr>
          <p:blipFill rotWithShape="1">
            <a:blip r:embed="rId4">
              <a:alphaModFix/>
            </a:blip>
            <a:srcRect l="74705" b="19309"/>
            <a:stretch/>
          </p:blipFill>
          <p:spPr>
            <a:xfrm>
              <a:off x="204528" y="4520008"/>
              <a:ext cx="381645" cy="45431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4" name="Google Shape;914;p48"/>
          <p:cNvGrpSpPr/>
          <p:nvPr/>
        </p:nvGrpSpPr>
        <p:grpSpPr>
          <a:xfrm>
            <a:off x="155329" y="1118686"/>
            <a:ext cx="483078" cy="846765"/>
            <a:chOff x="155329" y="934840"/>
            <a:chExt cx="483078" cy="846765"/>
          </a:xfrm>
        </p:grpSpPr>
        <p:sp>
          <p:nvSpPr>
            <p:cNvPr id="915" name="Google Shape;915;p48"/>
            <p:cNvSpPr txBox="1"/>
            <p:nvPr/>
          </p:nvSpPr>
          <p:spPr>
            <a:xfrm>
              <a:off x="155329" y="1412305"/>
              <a:ext cx="46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개방형</a:t>
              </a:r>
              <a:endParaRPr sz="1200" b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탐구</a:t>
              </a:r>
              <a:endParaRPr>
                <a:solidFill>
                  <a:schemeClr val="tx1"/>
                </a:solidFill>
              </a:endParaRPr>
            </a:p>
          </p:txBody>
        </p:sp>
        <p:pic>
          <p:nvPicPr>
            <p:cNvPr id="916" name="Google Shape;916;p48"/>
            <p:cNvPicPr preferRelativeResize="0"/>
            <p:nvPr/>
          </p:nvPicPr>
          <p:blipFill rotWithShape="1">
            <a:blip r:embed="rId3">
              <a:alphaModFix/>
            </a:blip>
            <a:srcRect l="-1049" r="65380" b="13450"/>
            <a:stretch/>
          </p:blipFill>
          <p:spPr>
            <a:xfrm>
              <a:off x="159905" y="934840"/>
              <a:ext cx="478502" cy="4640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49"/>
          <p:cNvGrpSpPr/>
          <p:nvPr/>
        </p:nvGrpSpPr>
        <p:grpSpPr>
          <a:xfrm>
            <a:off x="260060" y="134638"/>
            <a:ext cx="11671761" cy="338700"/>
            <a:chOff x="260060" y="463574"/>
            <a:chExt cx="11671761" cy="338700"/>
          </a:xfrm>
        </p:grpSpPr>
        <p:sp>
          <p:nvSpPr>
            <p:cNvPr id="923" name="Google Shape;923;p49"/>
            <p:cNvSpPr txBox="1"/>
            <p:nvPr/>
          </p:nvSpPr>
          <p:spPr>
            <a:xfrm>
              <a:off x="260060" y="463574"/>
              <a:ext cx="1015200" cy="338700"/>
            </a:xfrm>
            <a:prstGeom prst="rect">
              <a:avLst/>
            </a:prstGeom>
            <a:solidFill>
              <a:srgbClr val="2E75B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별첨2</a:t>
              </a:r>
              <a:endParaRPr sz="16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4" name="Google Shape;924;p49"/>
            <p:cNvSpPr txBox="1"/>
            <p:nvPr/>
          </p:nvSpPr>
          <p:spPr>
            <a:xfrm>
              <a:off x="1434521" y="463574"/>
              <a:ext cx="10497300" cy="338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AI·디지털 도구 활용 </a:t>
              </a:r>
              <a:r>
                <a:rPr lang="ko-KR" sz="1600" b="1" i="0" u="none" strike="noStrike" cap="non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차시</a:t>
              </a:r>
              <a:r>
                <a:rPr lang="ko-KR" sz="16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교수·학습 설계안(양식)</a:t>
              </a:r>
              <a:endPara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25" name="Google Shape;925;p49"/>
          <p:cNvSpPr/>
          <p:nvPr/>
        </p:nvSpPr>
        <p:spPr>
          <a:xfrm>
            <a:off x="3531765" y="673251"/>
            <a:ext cx="5128500" cy="353700"/>
          </a:xfrm>
          <a:prstGeom prst="roundRect">
            <a:avLst>
              <a:gd name="adj" fmla="val 50000"/>
            </a:avLst>
          </a:prstGeom>
          <a:solidFill>
            <a:srgbClr val="03A9F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( </a:t>
            </a:r>
            <a:r>
              <a:rPr lang="ko-KR" altLang="en-US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수학 </a:t>
            </a:r>
            <a:r>
              <a:rPr lang="ko-KR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ko-KR" sz="15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ko-KR" sz="15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AI·디지털</a:t>
            </a:r>
            <a:r>
              <a:rPr lang="ko-KR" sz="15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도구 활용 차시 </a:t>
            </a:r>
            <a:r>
              <a:rPr lang="ko-KR" sz="15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교수·학습설계안</a:t>
            </a:r>
            <a:endParaRPr sz="15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926" name="Google Shape;926;p49"/>
          <p:cNvGraphicFramePr/>
          <p:nvPr>
            <p:extLst>
              <p:ext uri="{D42A27DB-BD31-4B8C-83A1-F6EECF244321}">
                <p14:modId xmlns:p14="http://schemas.microsoft.com/office/powerpoint/2010/main" val="1625268393"/>
              </p:ext>
            </p:extLst>
          </p:nvPr>
        </p:nvGraphicFramePr>
        <p:xfrm>
          <a:off x="248899" y="1176577"/>
          <a:ext cx="11694175" cy="2421830"/>
        </p:xfrm>
        <a:graphic>
          <a:graphicData uri="http://schemas.openxmlformats.org/drawingml/2006/table">
            <a:tbl>
              <a:tblPr firstRow="1" bandRow="1">
                <a:noFill/>
                <a:tableStyleId>{CC2AFC39-9312-4BDD-B99D-2AEC6354EE5F}</a:tableStyleId>
              </a:tblPr>
              <a:tblGrid>
                <a:gridCol w="84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5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43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6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u="none" strike="noStrike" cap="none" dirty="0" err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학교급</a:t>
                      </a:r>
                      <a:r>
                        <a:rPr lang="en-US" alt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학년-학기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/>
                        <a:t>고등학교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학년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학기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sym typeface="Malgun Gothic"/>
                        </a:rPr>
                        <a:t>단원</a:t>
                      </a:r>
                      <a:endParaRPr lang="ko-KR" altLang="en-US"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대수 </a:t>
                      </a:r>
                      <a:r>
                        <a:rPr lang="en-US" altLang="ko-KR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― </a:t>
                      </a:r>
                      <a:r>
                        <a:rPr lang="ko-KR" altLang="en-US" sz="11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지수함수와 로그함수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차시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dirty="0"/>
                        <a:t>3/5</a:t>
                      </a:r>
                      <a:r>
                        <a:rPr lang="ko-KR" altLang="en-US" sz="1100" dirty="0"/>
                        <a:t>차시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대상</a:t>
                      </a:r>
                      <a:endParaRPr sz="11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dirty="0"/>
                        <a:t>고등학교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학년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지도교사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수업 주제</a:t>
                      </a:r>
                      <a:endParaRPr sz="11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dirty="0"/>
                        <a:t>내 돈이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배 되는 시간을 상용로그로 구하고 </a:t>
                      </a:r>
                      <a:r>
                        <a:rPr lang="en-US" altLang="ko-KR" sz="1100" dirty="0"/>
                        <a:t>AI</a:t>
                      </a:r>
                      <a:r>
                        <a:rPr lang="ko-KR" altLang="en-US" sz="1100" dirty="0"/>
                        <a:t>의 복리 설명 </a:t>
                      </a:r>
                      <a:r>
                        <a:rPr lang="ko-KR" altLang="en-US" sz="1100" dirty="0" err="1"/>
                        <a:t>팩트체크하기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성취기준</a:t>
                      </a:r>
                      <a:endParaRPr sz="11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altLang="ko-KR" sz="1100" dirty="0"/>
                        <a:t>[12</a:t>
                      </a:r>
                      <a:r>
                        <a:rPr lang="ko-KR" altLang="en-US" sz="1100" dirty="0"/>
                        <a:t>대수</a:t>
                      </a:r>
                      <a:r>
                        <a:rPr lang="en-US" altLang="ko-KR" sz="1100" dirty="0"/>
                        <a:t>01-05] </a:t>
                      </a:r>
                      <a:r>
                        <a:rPr lang="ko-KR" altLang="en-US" sz="1100" dirty="0"/>
                        <a:t>상용로그를 이해하고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이를 실생활과 연결하여 문제를 해결할 수 있다</a:t>
                      </a:r>
                      <a:r>
                        <a:rPr lang="en-US" altLang="ko-KR" sz="1100" dirty="0"/>
                        <a:t>.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탐구 질문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5875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altLang="en-US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성장의 결과에서 시간을 알아내려면 왜 로그가 필요한가</a:t>
                      </a:r>
                      <a:r>
                        <a:rPr lang="en-US" altLang="ko-KR" sz="110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?</a:t>
                      </a:r>
                      <a:endParaRPr sz="110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</a:t>
                      </a: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</a:rPr>
                        <a:t>·</a:t>
                      </a: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디지털 도구</a:t>
                      </a:r>
                      <a:endParaRPr sz="11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en-US" sz="1100" dirty="0"/>
                        <a:t>Google Sheets </a:t>
                      </a:r>
                      <a:r>
                        <a:rPr lang="ko-KR" altLang="en-US" sz="1100" dirty="0"/>
                        <a:t>또는 </a:t>
                      </a:r>
                      <a:r>
                        <a:rPr lang="en-US" sz="1100" dirty="0"/>
                        <a:t>Excel, </a:t>
                      </a:r>
                      <a:r>
                        <a:rPr lang="ko-KR" altLang="en-US" sz="1100" dirty="0"/>
                        <a:t>학교 승인 생성형 </a:t>
                      </a:r>
                      <a:r>
                        <a:rPr lang="en-US" sz="1100" dirty="0"/>
                        <a:t>AI, Padlet</a:t>
                      </a: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수업 의도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표를 아무리 늘려도 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정확히 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 되는 시간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은 답할 수 없음을 체험하게 하여 로그의 필요성을 정의보다 앞서 도출하게 한다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1100" b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금리별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 시간에서 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'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금리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×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시간≈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72' 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패턴을 발견해 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72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 법칙을 세우고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AI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 복리 설명을 상용로그 계산으로 </a:t>
                      </a:r>
                      <a:r>
                        <a:rPr lang="ko-KR" altLang="en-US" sz="1100" b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팩트체크하며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판단의 주체가 학생임을 경험하게 한다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endParaRPr sz="11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학생 및 과제 분석</a:t>
                      </a:r>
                      <a:endParaRPr sz="110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학생은 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"5%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면 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년 뒤 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 오판하거나 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 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수치를 검증 없이 수용할 수 있다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표 탐색의 한계를 겪게 한 뒤 역과정으로 로그를 도입하고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 AI 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답변과 자기 계산의 불일치를 찾는 활동으로 </a:t>
                      </a:r>
                      <a:r>
                        <a:rPr lang="ko-KR" altLang="en-US" sz="1100" b="0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오개념과</a:t>
                      </a:r>
                      <a:r>
                        <a:rPr lang="ko-KR" altLang="en-US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맹신을 함께 교정한다</a:t>
                      </a:r>
                      <a:r>
                        <a:rPr lang="en-US" altLang="ko-KR" sz="11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</a:t>
                      </a:r>
                      <a:endParaRPr sz="11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7" name="Google Shape;927;p49"/>
          <p:cNvGraphicFramePr/>
          <p:nvPr>
            <p:extLst>
              <p:ext uri="{D42A27DB-BD31-4B8C-83A1-F6EECF244321}">
                <p14:modId xmlns:p14="http://schemas.microsoft.com/office/powerpoint/2010/main" val="1897768263"/>
              </p:ext>
            </p:extLst>
          </p:nvPr>
        </p:nvGraphicFramePr>
        <p:xfrm>
          <a:off x="254085" y="4462851"/>
          <a:ext cx="8867625" cy="2289508"/>
        </p:xfrm>
        <a:graphic>
          <a:graphicData uri="http://schemas.openxmlformats.org/drawingml/2006/table">
            <a:tbl>
              <a:tblPr firstRow="1" bandRow="1">
                <a:noFill/>
                <a:tableStyleId>{A327CB27-3F5C-4547-81DB-43A206F6D8C2}</a:tableStyleId>
              </a:tblPr>
              <a:tblGrid>
                <a:gridCol w="46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2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30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평가요소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피드백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평가도구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(방법)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0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심화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기초 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500"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인지적 차원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지수의 역과정으로서 로그의 필요성 이해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>
                          <a:effectLst/>
                        </a:rPr>
                        <a:t>2</a:t>
                      </a:r>
                      <a:r>
                        <a:rPr lang="ko-KR" altLang="en-US" sz="1050" dirty="0">
                          <a:effectLst/>
                        </a:rPr>
                        <a:t>배 시간 문제를 로그의 정의와 연결해 다른 상황에도 적용함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>
                          <a:effectLst/>
                        </a:rPr>
                        <a:t>2</a:t>
                      </a:r>
                      <a:r>
                        <a:rPr lang="ko-KR" altLang="en-US" sz="1050" dirty="0">
                          <a:effectLst/>
                        </a:rPr>
                        <a:t>배 시간이 지수의 역과정임을 말하고 상용로그로 구함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안내를 받아 계산의 의미를 부분적으로 설명함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발견 기록지</a:t>
                      </a:r>
                      <a:r>
                        <a:rPr lang="en-US" altLang="ko-KR" sz="1050" dirty="0">
                          <a:effectLst/>
                        </a:rPr>
                        <a:t>, </a:t>
                      </a:r>
                      <a:r>
                        <a:rPr lang="ko-KR" altLang="en-US" sz="1050" dirty="0">
                          <a:effectLst/>
                        </a:rPr>
                        <a:t>출구 문항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500"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과정적 차원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공학 도구로 </a:t>
                      </a:r>
                      <a:r>
                        <a:rPr lang="en-US" altLang="ko-KR" sz="1050" dirty="0">
                          <a:effectLst/>
                        </a:rPr>
                        <a:t>2</a:t>
                      </a:r>
                      <a:r>
                        <a:rPr lang="ko-KR" altLang="en-US" sz="1050" dirty="0">
                          <a:effectLst/>
                        </a:rPr>
                        <a:t>배 시간 산출과 </a:t>
                      </a:r>
                      <a:r>
                        <a:rPr lang="en-US" altLang="ko-KR" sz="1050" dirty="0">
                          <a:effectLst/>
                        </a:rPr>
                        <a:t>72</a:t>
                      </a:r>
                      <a:r>
                        <a:rPr lang="ko-KR" altLang="en-US" sz="1050" dirty="0">
                          <a:effectLst/>
                        </a:rPr>
                        <a:t>의 법칙 검증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금리</a:t>
                      </a:r>
                      <a:r>
                        <a:rPr lang="en-US" altLang="ko-KR" sz="1050" dirty="0">
                          <a:effectLst/>
                        </a:rPr>
                        <a:t>×</a:t>
                      </a:r>
                      <a:r>
                        <a:rPr lang="ko-KR" altLang="en-US" sz="1050" dirty="0">
                          <a:effectLst/>
                        </a:rPr>
                        <a:t>시간의 패턴을 스스로 정식화하고 오차 원인까지 탐구함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>
                          <a:effectLst/>
                        </a:rPr>
                        <a:t>2</a:t>
                      </a:r>
                      <a:r>
                        <a:rPr lang="ko-KR" altLang="en-US" sz="1050" dirty="0">
                          <a:effectLst/>
                        </a:rPr>
                        <a:t>배 시간을 구하고 </a:t>
                      </a:r>
                      <a:r>
                        <a:rPr lang="en-US" altLang="ko-KR" sz="1050" dirty="0">
                          <a:effectLst/>
                        </a:rPr>
                        <a:t>72</a:t>
                      </a:r>
                      <a:r>
                        <a:rPr lang="ko-KR" altLang="en-US" sz="1050" dirty="0">
                          <a:effectLst/>
                        </a:rPr>
                        <a:t>의 법칙과 비교해 기록함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안내에 따라 계산하고 부분적으로 기록함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>
                          <a:effectLst/>
                        </a:rPr>
                        <a:t>Sheets </a:t>
                      </a:r>
                      <a:r>
                        <a:rPr lang="ko-KR" altLang="en-US" sz="1050" dirty="0">
                          <a:effectLst/>
                        </a:rPr>
                        <a:t>파일</a:t>
                      </a:r>
                      <a:r>
                        <a:rPr lang="en-US" altLang="ko-KR" sz="1050" dirty="0">
                          <a:effectLst/>
                        </a:rPr>
                        <a:t>, </a:t>
                      </a:r>
                      <a:r>
                        <a:rPr lang="ko-KR" altLang="en-US" sz="1050" dirty="0">
                          <a:effectLst/>
                        </a:rPr>
                        <a:t>관찰 평가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500"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소통</a:t>
                      </a:r>
                      <a:r>
                        <a:rPr lang="en-US" altLang="ko-KR" sz="1050" dirty="0">
                          <a:effectLst/>
                        </a:rPr>
                        <a:t>·</a:t>
                      </a:r>
                      <a:r>
                        <a:rPr lang="ko-KR" altLang="en-US" sz="1050" dirty="0">
                          <a:effectLst/>
                        </a:rPr>
                        <a:t>표현 차원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>
                          <a:effectLst/>
                        </a:rPr>
                        <a:t>AI </a:t>
                      </a:r>
                      <a:r>
                        <a:rPr lang="ko-KR" altLang="en-US" sz="1050" dirty="0">
                          <a:effectLst/>
                        </a:rPr>
                        <a:t>설명의 검증과 근거 있는 판단 공유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>
                          <a:effectLst/>
                        </a:rPr>
                        <a:t>AI </a:t>
                      </a:r>
                      <a:r>
                        <a:rPr lang="ko-KR" altLang="en-US" sz="1050" dirty="0">
                          <a:effectLst/>
                        </a:rPr>
                        <a:t>수치의 불일치</a:t>
                      </a:r>
                      <a:r>
                        <a:rPr lang="en-US" altLang="ko-KR" sz="1050" dirty="0">
                          <a:effectLst/>
                        </a:rPr>
                        <a:t>·</a:t>
                      </a:r>
                      <a:r>
                        <a:rPr lang="ko-KR" altLang="en-US" sz="1050" dirty="0">
                          <a:effectLst/>
                        </a:rPr>
                        <a:t>한계를 근거와 함께 지적하고 토의를 이끎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>
                          <a:effectLst/>
                        </a:rPr>
                        <a:t>AI </a:t>
                      </a:r>
                      <a:r>
                        <a:rPr lang="ko-KR" altLang="en-US" sz="1050" dirty="0">
                          <a:effectLst/>
                        </a:rPr>
                        <a:t>답변을 재계산으로 검증하고 근거를 들어 공유함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검증 활동에 참여하고 결과를 부분적으로 말함</a:t>
                      </a: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 err="1">
                          <a:effectLst/>
                        </a:rPr>
                        <a:t>팩트체크</a:t>
                      </a:r>
                      <a:r>
                        <a:rPr lang="ko-KR" altLang="en-US" sz="1050" dirty="0">
                          <a:effectLst/>
                        </a:rPr>
                        <a:t> 기록지</a:t>
                      </a:r>
                      <a:r>
                        <a:rPr lang="en-US" altLang="ko-KR" sz="1050" dirty="0">
                          <a:effectLst/>
                        </a:rPr>
                        <a:t>, Padlet</a:t>
                      </a:r>
                      <a:endParaRPr lang="ko-KR" altLang="en-US" sz="1050" dirty="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28" name="Google Shape;928;p49"/>
          <p:cNvGrpSpPr/>
          <p:nvPr/>
        </p:nvGrpSpPr>
        <p:grpSpPr>
          <a:xfrm>
            <a:off x="9219501" y="4394821"/>
            <a:ext cx="2723700" cy="2172814"/>
            <a:chOff x="9219501" y="3992953"/>
            <a:chExt cx="2723700" cy="2172814"/>
          </a:xfrm>
        </p:grpSpPr>
        <p:sp>
          <p:nvSpPr>
            <p:cNvPr id="929" name="Google Shape;929;p49"/>
            <p:cNvSpPr/>
            <p:nvPr/>
          </p:nvSpPr>
          <p:spPr>
            <a:xfrm>
              <a:off x="9219501" y="4188467"/>
              <a:ext cx="2723700" cy="1977300"/>
            </a:xfrm>
            <a:prstGeom prst="roundRect">
              <a:avLst>
                <a:gd name="adj" fmla="val 4677"/>
              </a:avLst>
            </a:prstGeom>
            <a:solidFill>
              <a:srgbClr val="E5EBF7"/>
            </a:solidFill>
            <a:ln w="19050" cap="flat" cmpd="sng">
              <a:solidFill>
                <a:srgbClr val="2F559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4000" tIns="252000" rIns="5400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0" name="Google Shape;930;p49"/>
            <p:cNvGrpSpPr/>
            <p:nvPr/>
          </p:nvGrpSpPr>
          <p:grpSpPr>
            <a:xfrm>
              <a:off x="9305762" y="3992953"/>
              <a:ext cx="2550930" cy="433172"/>
              <a:chOff x="9079160" y="6446689"/>
              <a:chExt cx="2550930" cy="433172"/>
            </a:xfrm>
          </p:grpSpPr>
          <p:sp>
            <p:nvSpPr>
              <p:cNvPr id="931" name="Google Shape;931;p49"/>
              <p:cNvSpPr/>
              <p:nvPr/>
            </p:nvSpPr>
            <p:spPr>
              <a:xfrm>
                <a:off x="9338690" y="6498067"/>
                <a:ext cx="2291400" cy="303300"/>
              </a:xfrm>
              <a:prstGeom prst="roundRect">
                <a:avLst>
                  <a:gd name="adj" fmla="val 50000"/>
                </a:avLst>
              </a:prstGeom>
              <a:solidFill>
                <a:srgbClr val="2F5597"/>
              </a:solidFill>
              <a:ln>
                <a:noFill/>
              </a:ln>
            </p:spPr>
            <p:txBody>
              <a:bodyPr spcFirstLastPara="1" wrap="square" lIns="14400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100" b="1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AI·디지털 도구 활용 유의사항</a:t>
                </a:r>
                <a:endParaRPr/>
              </a:p>
            </p:txBody>
          </p:sp>
          <p:pic>
            <p:nvPicPr>
              <p:cNvPr id="932" name="Google Shape;932;p4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 flipH="1">
                <a:off x="9079160" y="6446689"/>
                <a:ext cx="433174" cy="4331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33" name="Google Shape;933;p49"/>
          <p:cNvSpPr/>
          <p:nvPr/>
        </p:nvSpPr>
        <p:spPr>
          <a:xfrm>
            <a:off x="260060" y="4091543"/>
            <a:ext cx="1334700" cy="3033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과정 중심 평가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0"/>
          <p:cNvSpPr txBox="1"/>
          <p:nvPr/>
        </p:nvSpPr>
        <p:spPr>
          <a:xfrm>
            <a:off x="294812" y="660251"/>
            <a:ext cx="49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sz="1200" b="1" i="0" u="none" strike="noStrike" cap="none">
              <a:solidFill>
                <a:schemeClr val="tx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형태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941" name="Google Shape;941;p50"/>
          <p:cNvGrpSpPr/>
          <p:nvPr/>
        </p:nvGrpSpPr>
        <p:grpSpPr>
          <a:xfrm>
            <a:off x="745923" y="595886"/>
            <a:ext cx="11229528" cy="6090660"/>
            <a:chOff x="745923" y="3033212"/>
            <a:chExt cx="11229528" cy="3512694"/>
          </a:xfrm>
        </p:grpSpPr>
        <p:grpSp>
          <p:nvGrpSpPr>
            <p:cNvPr id="942" name="Google Shape;942;p50"/>
            <p:cNvGrpSpPr/>
            <p:nvPr/>
          </p:nvGrpSpPr>
          <p:grpSpPr>
            <a:xfrm>
              <a:off x="745923" y="3033212"/>
              <a:ext cx="11229528" cy="3512694"/>
              <a:chOff x="570454" y="1941446"/>
              <a:chExt cx="11434200" cy="4576800"/>
            </a:xfrm>
          </p:grpSpPr>
          <p:cxnSp>
            <p:nvCxnSpPr>
              <p:cNvPr id="943" name="Google Shape;943;p50"/>
              <p:cNvCxnSpPr/>
              <p:nvPr/>
            </p:nvCxnSpPr>
            <p:spPr>
              <a:xfrm>
                <a:off x="570454" y="6518246"/>
                <a:ext cx="11434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  <p:cxnSp>
            <p:nvCxnSpPr>
              <p:cNvPr id="944" name="Google Shape;944;p50"/>
              <p:cNvCxnSpPr/>
              <p:nvPr/>
            </p:nvCxnSpPr>
            <p:spPr>
              <a:xfrm rot="10800000">
                <a:off x="570454" y="1941446"/>
                <a:ext cx="0" cy="457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</p:grpSp>
        <p:cxnSp>
          <p:nvCxnSpPr>
            <p:cNvPr id="945" name="Google Shape;945;p50"/>
            <p:cNvCxnSpPr/>
            <p:nvPr/>
          </p:nvCxnSpPr>
          <p:spPr>
            <a:xfrm rot="10800000" flipH="1">
              <a:off x="768353" y="3521105"/>
              <a:ext cx="11114700" cy="5790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  <p:cxnSp>
          <p:nvCxnSpPr>
            <p:cNvPr id="946" name="Google Shape;946;p50"/>
            <p:cNvCxnSpPr/>
            <p:nvPr/>
          </p:nvCxnSpPr>
          <p:spPr>
            <a:xfrm>
              <a:off x="762000" y="4598507"/>
              <a:ext cx="11122500" cy="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  <p:cxnSp>
          <p:nvCxnSpPr>
            <p:cNvPr id="947" name="Google Shape;947;p50"/>
            <p:cNvCxnSpPr/>
            <p:nvPr/>
          </p:nvCxnSpPr>
          <p:spPr>
            <a:xfrm>
              <a:off x="768353" y="5618009"/>
              <a:ext cx="11114700" cy="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</p:grpSp>
      <p:cxnSp>
        <p:nvCxnSpPr>
          <p:cNvPr id="948" name="Google Shape;948;p50"/>
          <p:cNvCxnSpPr>
            <a:cxnSpLocks/>
            <a:stCxn id="949" idx="3"/>
            <a:endCxn id="950" idx="1"/>
          </p:cNvCxnSpPr>
          <p:nvPr/>
        </p:nvCxnSpPr>
        <p:spPr>
          <a:xfrm>
            <a:off x="3389142" y="2681122"/>
            <a:ext cx="433100" cy="656736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951" name="Google Shape;951;p50"/>
          <p:cNvCxnSpPr>
            <a:cxnSpLocks/>
            <a:stCxn id="950" idx="3"/>
            <a:endCxn id="952" idx="1"/>
          </p:cNvCxnSpPr>
          <p:nvPr/>
        </p:nvCxnSpPr>
        <p:spPr>
          <a:xfrm rot="10800000" flipH="1">
            <a:off x="6213757" y="3325858"/>
            <a:ext cx="387000" cy="12000"/>
          </a:xfrm>
          <a:prstGeom prst="bentConnector3">
            <a:avLst>
              <a:gd name="adj1" fmla="val 49986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953" name="Google Shape;953;p50"/>
          <p:cNvCxnSpPr>
            <a:cxnSpLocks/>
            <a:stCxn id="952" idx="3"/>
            <a:endCxn id="954" idx="1"/>
          </p:cNvCxnSpPr>
          <p:nvPr/>
        </p:nvCxnSpPr>
        <p:spPr>
          <a:xfrm flipV="1">
            <a:off x="8992367" y="2163253"/>
            <a:ext cx="512994" cy="1162622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955" name="Google Shape;955;p50"/>
          <p:cNvGrpSpPr/>
          <p:nvPr/>
        </p:nvGrpSpPr>
        <p:grpSpPr>
          <a:xfrm>
            <a:off x="997627" y="625220"/>
            <a:ext cx="2391710" cy="4721305"/>
            <a:chOff x="905616" y="2552259"/>
            <a:chExt cx="2391710" cy="2810970"/>
          </a:xfrm>
        </p:grpSpPr>
        <p:sp>
          <p:nvSpPr>
            <p:cNvPr id="956" name="Google Shape;956;p50"/>
            <p:cNvSpPr/>
            <p:nvPr/>
          </p:nvSpPr>
          <p:spPr>
            <a:xfrm>
              <a:off x="905726" y="4945629"/>
              <a:ext cx="2391600" cy="417600"/>
            </a:xfrm>
            <a:prstGeom prst="roundRect">
              <a:avLst>
                <a:gd name="adj" fmla="val 6381"/>
              </a:avLst>
            </a:prstGeom>
            <a:solidFill>
              <a:srgbClr val="EEE5FF"/>
            </a:solidFill>
            <a:ln w="12700" cap="flat" cmpd="sng">
              <a:solidFill>
                <a:srgbClr val="9965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dirty="0">
                  <a:solidFill>
                    <a:schemeClr val="tx1"/>
                  </a:solidFill>
                </a:rPr>
                <a:t>도구</a:t>
              </a:r>
              <a:r>
                <a:rPr lang="en-US" altLang="ko-KR" sz="1000" dirty="0">
                  <a:solidFill>
                    <a:schemeClr val="tx1"/>
                  </a:solidFill>
                </a:rPr>
                <a:t>: Padlet,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알지오</a:t>
              </a:r>
              <a:r>
                <a:rPr lang="ko-KR" altLang="en-US" sz="1000" dirty="0">
                  <a:solidFill>
                    <a:schemeClr val="tx1"/>
                  </a:solidFill>
                </a:rPr>
                <a:t> 매스 그래프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dirty="0">
                  <a:solidFill>
                    <a:schemeClr val="tx1"/>
                  </a:solidFill>
                </a:rPr>
                <a:t>역할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단리적</a:t>
              </a:r>
              <a:r>
                <a:rPr lang="ko-KR" altLang="en-US" sz="1000" dirty="0">
                  <a:solidFill>
                    <a:schemeClr val="tx1"/>
                  </a:solidFill>
                </a:rPr>
                <a:t> 직관과 지수적 성장의 충돌을 드러냄</a:t>
              </a:r>
              <a:endParaRPr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957" name="Google Shape;957;p50"/>
            <p:cNvGrpSpPr/>
            <p:nvPr/>
          </p:nvGrpSpPr>
          <p:grpSpPr>
            <a:xfrm>
              <a:off x="905616" y="2552259"/>
              <a:ext cx="2391515" cy="2353226"/>
              <a:chOff x="2194117" y="4892041"/>
              <a:chExt cx="1381500" cy="2353226"/>
            </a:xfrm>
          </p:grpSpPr>
          <p:sp>
            <p:nvSpPr>
              <p:cNvPr id="949" name="Google Shape;949;p50"/>
              <p:cNvSpPr/>
              <p:nvPr/>
            </p:nvSpPr>
            <p:spPr>
              <a:xfrm>
                <a:off x="2194117" y="4986900"/>
                <a:ext cx="1381500" cy="2258367"/>
              </a:xfrm>
              <a:prstGeom prst="roundRect">
                <a:avLst>
                  <a:gd name="adj" fmla="val 3340"/>
                </a:avLst>
              </a:prstGeom>
              <a:solidFill>
                <a:schemeClr val="lt1"/>
              </a:solidFill>
              <a:ln w="19050" cap="flat" cmpd="sng">
                <a:solidFill>
                  <a:srgbClr val="9965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활동제목</a:t>
                </a: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: 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광고 속 </a:t>
                </a: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"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복리의 마법</a:t>
                </a: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", 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몇 년 뒤 </a:t>
                </a: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배</a:t>
                </a: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? [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학습형태</a:t>
                </a: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: 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전체</a:t>
                </a: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]</a:t>
                </a: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ko-KR" sz="1000" b="0" i="0" u="none" strike="noStrike" cap="none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▪ 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교사 활동</a:t>
                </a:r>
                <a:endParaRPr lang="en-US" altLang="ko-KR" sz="1000" b="0" i="0" u="none" strike="noStrike" cap="none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marR="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Char char="-"/>
                </a:pP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"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연 </a:t>
                </a: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5% 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복리</a:t>
                </a: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" 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광고 문구 게시와 </a:t>
                </a: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"2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배까지 몇 년</a:t>
                </a: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?" 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즉석 투표 진행</a:t>
                </a:r>
                <a:endParaRPr lang="en-US" altLang="ko-KR" sz="1000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marR="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Char char="-"/>
                </a:pP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'100÷5=20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년</a:t>
                </a: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' 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응답을 전 차시 그래프와 </a:t>
                </a:r>
                <a:r>
                  <a:rPr lang="ko-KR" altLang="en-US" sz="1000" b="0" i="0" u="none" strike="noStrike" cap="none" dirty="0" err="1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대조시키는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lang="ko-KR" altLang="en-US" sz="1000" b="0" i="0" u="none" strike="noStrike" cap="none" dirty="0" err="1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재발문</a:t>
                </a:r>
                <a:endParaRPr lang="en-US" altLang="ko-KR" sz="1000" b="0" i="0" u="none" strike="noStrike" cap="none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R="0" lvl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ko-KR" sz="1000" b="0" i="0" u="none" strike="noStrike" cap="none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R="0" lvl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▪ 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학생 활동</a:t>
                </a:r>
                <a:endParaRPr lang="en-US" altLang="ko-KR" sz="1000" b="0" i="0" u="none" strike="noStrike" cap="none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marR="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Char char="-"/>
                </a:pP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예상 시간을 투표하고 근거 한 줄 게시</a:t>
                </a:r>
                <a:endParaRPr lang="en-US" altLang="ko-KR" sz="1000" b="0" i="0" u="none" strike="noStrike" cap="none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marL="171450" marR="0" lvl="0" indent="-17145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Char char="-"/>
                </a:pP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복리 그래프를 근거로 </a:t>
                </a:r>
                <a:r>
                  <a:rPr lang="en-US" altLang="ko-KR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20</a:t>
                </a:r>
                <a:r>
                  <a:rPr lang="ko-KR" altLang="en-US" sz="1000" b="0" i="0" u="none" strike="noStrike" cap="none" dirty="0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년 예상의 타당성 개별 메모</a:t>
                </a:r>
                <a:endParaRPr sz="1000" b="0" i="0" u="none" strike="noStrike" cap="none" dirty="0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58" name="Google Shape;958;p50"/>
              <p:cNvSpPr/>
              <p:nvPr/>
            </p:nvSpPr>
            <p:spPr>
              <a:xfrm>
                <a:off x="2274652" y="4892041"/>
                <a:ext cx="1221900" cy="161400"/>
              </a:xfrm>
              <a:prstGeom prst="roundRect">
                <a:avLst>
                  <a:gd name="adj" fmla="val 50000"/>
                </a:avLst>
              </a:prstGeom>
              <a:solidFill>
                <a:srgbClr val="9965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도입(5분)</a:t>
                </a:r>
                <a:endParaRPr sz="10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959" name="Google Shape;959;p50"/>
          <p:cNvGrpSpPr/>
          <p:nvPr/>
        </p:nvGrpSpPr>
        <p:grpSpPr>
          <a:xfrm>
            <a:off x="3822242" y="1096385"/>
            <a:ext cx="2391710" cy="5115529"/>
            <a:chOff x="3730232" y="596155"/>
            <a:chExt cx="2391710" cy="2687857"/>
          </a:xfrm>
        </p:grpSpPr>
        <p:sp>
          <p:nvSpPr>
            <p:cNvPr id="960" name="Google Shape;960;p50"/>
            <p:cNvSpPr/>
            <p:nvPr/>
          </p:nvSpPr>
          <p:spPr>
            <a:xfrm>
              <a:off x="3730342" y="2900012"/>
              <a:ext cx="2391600" cy="384000"/>
            </a:xfrm>
            <a:prstGeom prst="roundRect">
              <a:avLst>
                <a:gd name="adj" fmla="val 6381"/>
              </a:avLst>
            </a:prstGeom>
            <a:solidFill>
              <a:srgbClr val="E0F8F6"/>
            </a:solidFill>
            <a:ln w="12700" cap="flat" cmpd="sng">
              <a:solidFill>
                <a:srgbClr val="29B6A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dirty="0">
                  <a:solidFill>
                    <a:schemeClr val="tx1"/>
                  </a:solidFill>
                </a:rPr>
                <a:t>도구</a:t>
              </a:r>
              <a:r>
                <a:rPr lang="en-US" altLang="ko-KR" sz="1000" dirty="0">
                  <a:solidFill>
                    <a:schemeClr val="tx1"/>
                  </a:solidFill>
                </a:rPr>
                <a:t>: Google Sheets, </a:t>
              </a:r>
              <a:r>
                <a:rPr lang="ko-KR" altLang="en-US" sz="1000" dirty="0">
                  <a:solidFill>
                    <a:schemeClr val="tx1"/>
                  </a:solidFill>
                </a:rPr>
                <a:t>계산기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dirty="0">
                  <a:solidFill>
                    <a:schemeClr val="tx1"/>
                  </a:solidFill>
                </a:rPr>
                <a:t>역할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표 탐색의 한계를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체험시켜</a:t>
              </a:r>
              <a:r>
                <a:rPr lang="ko-KR" altLang="en-US" sz="1000" dirty="0">
                  <a:solidFill>
                    <a:schemeClr val="tx1"/>
                  </a:solidFill>
                </a:rPr>
                <a:t> 로그의 필요성을 도출하게 함</a:t>
              </a:r>
              <a:endParaRPr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961" name="Google Shape;961;p50"/>
            <p:cNvGrpSpPr/>
            <p:nvPr/>
          </p:nvGrpSpPr>
          <p:grpSpPr>
            <a:xfrm>
              <a:off x="3730232" y="596155"/>
              <a:ext cx="2391515" cy="2269889"/>
              <a:chOff x="2194117" y="4937800"/>
              <a:chExt cx="1381500" cy="2269889"/>
            </a:xfrm>
          </p:grpSpPr>
          <p:sp>
            <p:nvSpPr>
              <p:cNvPr id="950" name="Google Shape;950;p50"/>
              <p:cNvSpPr/>
              <p:nvPr/>
            </p:nvSpPr>
            <p:spPr>
              <a:xfrm>
                <a:off x="2194117" y="5023389"/>
                <a:ext cx="1381500" cy="2184300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29B6AA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algn="l"/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활동제목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: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표로는 답할 수 없다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―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로그의 발견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[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학습형태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: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모둠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]</a:t>
                </a:r>
              </a:p>
              <a:p>
                <a:pPr algn="l"/>
                <a:endParaRPr lang="en-US" altLang="ko-KR" sz="1000" dirty="0">
                  <a:solidFill>
                    <a:schemeClr val="tx1"/>
                  </a:solidFill>
                  <a:latin typeface="-apple-system"/>
                </a:endParaRPr>
              </a:p>
              <a:p>
                <a:pPr algn="l"/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▪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교사 활동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복리 표에서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2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배를 넘는 시점을 찾게 하고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"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정확히 언제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2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배인가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?"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발문으로 표 탐색의 한계 부각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역과정의 필요성을 학생 언어로 정리하게 한 뒤 상용로그 계산법 소개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algn="l"/>
                <a:endParaRPr lang="en-US" altLang="ko-KR" sz="1000" dirty="0">
                  <a:solidFill>
                    <a:schemeClr val="tx1"/>
                  </a:solidFill>
                  <a:latin typeface="-apple-system"/>
                </a:endParaRPr>
              </a:p>
              <a:p>
                <a:pPr algn="l"/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▪ 학생 활동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표에서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2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배를 처음 넘는 해를 찾고 전후 값 기록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구하려는 것이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'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지수 자리의 미지수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'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임을 발견하고 상용로그로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2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배 시간 산출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</p:txBody>
          </p:sp>
          <p:sp>
            <p:nvSpPr>
              <p:cNvPr id="962" name="Google Shape;962;p50"/>
              <p:cNvSpPr/>
              <p:nvPr/>
            </p:nvSpPr>
            <p:spPr>
              <a:xfrm>
                <a:off x="2274652" y="4937800"/>
                <a:ext cx="1221900" cy="166500"/>
              </a:xfrm>
              <a:prstGeom prst="roundRect">
                <a:avLst>
                  <a:gd name="adj" fmla="val 50000"/>
                </a:avLst>
              </a:prstGeom>
              <a:solidFill>
                <a:srgbClr val="29B6A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전개1(10분)</a:t>
                </a:r>
                <a:endParaRPr sz="10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963" name="Google Shape;963;p50"/>
          <p:cNvGrpSpPr/>
          <p:nvPr/>
        </p:nvGrpSpPr>
        <p:grpSpPr>
          <a:xfrm>
            <a:off x="9505361" y="358113"/>
            <a:ext cx="2391600" cy="4496424"/>
            <a:chOff x="9379463" y="759196"/>
            <a:chExt cx="2391600" cy="3164045"/>
          </a:xfrm>
        </p:grpSpPr>
        <p:sp>
          <p:nvSpPr>
            <p:cNvPr id="964" name="Google Shape;964;p50"/>
            <p:cNvSpPr/>
            <p:nvPr/>
          </p:nvSpPr>
          <p:spPr>
            <a:xfrm>
              <a:off x="9379463" y="3325341"/>
              <a:ext cx="2391600" cy="597900"/>
            </a:xfrm>
            <a:prstGeom prst="roundRect">
              <a:avLst>
                <a:gd name="adj" fmla="val 6381"/>
              </a:avLst>
            </a:prstGeom>
            <a:solidFill>
              <a:srgbClr val="FFF3F4"/>
            </a:solidFill>
            <a:ln w="12700" cap="flat" cmpd="sng">
              <a:solidFill>
                <a:srgbClr val="FF536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dirty="0">
                  <a:solidFill>
                    <a:schemeClr val="tx1"/>
                  </a:solidFill>
                </a:rPr>
                <a:t>도구</a:t>
              </a:r>
              <a:r>
                <a:rPr lang="en-US" altLang="ko-KR" sz="1000" dirty="0">
                  <a:solidFill>
                    <a:schemeClr val="tx1"/>
                  </a:solidFill>
                </a:rPr>
                <a:t>: Padlet</a:t>
              </a:r>
            </a:p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dirty="0">
                  <a:solidFill>
                    <a:schemeClr val="tx1"/>
                  </a:solidFill>
                </a:rPr>
                <a:t>역할</a:t>
              </a:r>
              <a:r>
                <a:rPr lang="en-US" altLang="ko-KR" sz="1000" dirty="0">
                  <a:solidFill>
                    <a:schemeClr val="tx1"/>
                  </a:solidFill>
                </a:rPr>
                <a:t>: </a:t>
              </a:r>
              <a:r>
                <a:rPr lang="ko-KR" altLang="en-US" sz="1000" dirty="0">
                  <a:solidFill>
                    <a:schemeClr val="tx1"/>
                  </a:solidFill>
                </a:rPr>
                <a:t>발견 문장과 출구 응답을 수집해 이해 도달 정도를 확인함</a:t>
              </a:r>
              <a:endParaRPr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965" name="Google Shape;965;p50"/>
            <p:cNvGrpSpPr/>
            <p:nvPr/>
          </p:nvGrpSpPr>
          <p:grpSpPr>
            <a:xfrm>
              <a:off x="9379463" y="759196"/>
              <a:ext cx="2391515" cy="2409133"/>
              <a:chOff x="2194117" y="4892040"/>
              <a:chExt cx="1381500" cy="2409133"/>
            </a:xfrm>
          </p:grpSpPr>
          <p:sp>
            <p:nvSpPr>
              <p:cNvPr id="954" name="Google Shape;954;p50"/>
              <p:cNvSpPr/>
              <p:nvPr/>
            </p:nvSpPr>
            <p:spPr>
              <a:xfrm>
                <a:off x="2194117" y="5023389"/>
                <a:ext cx="1381500" cy="2277784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FF536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algn="l"/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활동제목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: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로그가 필요해지는 순간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[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학습형태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: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전체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/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개별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]</a:t>
                </a:r>
              </a:p>
              <a:p>
                <a:pPr algn="l"/>
                <a:endParaRPr lang="en-US" altLang="ko-KR" sz="1000" dirty="0">
                  <a:solidFill>
                    <a:schemeClr val="tx1"/>
                  </a:solidFill>
                  <a:latin typeface="-apple-system"/>
                </a:endParaRPr>
              </a:p>
              <a:p>
                <a:pPr algn="l"/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▪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교사 활동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0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모둠별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법칙 진술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·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판정을 게시하게 하고 공통 패턴 부각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다음 차시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(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저축 설계서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)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연결 예고와 출구 문항 제시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endParaRPr lang="en-US" altLang="ko-KR" sz="1000" dirty="0">
                  <a:solidFill>
                    <a:schemeClr val="tx1"/>
                  </a:solidFill>
                  <a:latin typeface="-apple-system"/>
                </a:endParaRPr>
              </a:p>
              <a:p>
                <a:pPr algn="l"/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▪ 학생 활동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'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성장의 결과에서 시간을 묻는 순간 로그가 필요하다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'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는 발견을 자기 언어로 기록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출구 문항에 개별 응답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endParaRPr lang="en-US" altLang="ko-KR" sz="1000" dirty="0">
                  <a:solidFill>
                    <a:schemeClr val="tx1"/>
                  </a:solidFill>
                  <a:latin typeface="-apple-system"/>
                </a:endParaRPr>
              </a:p>
              <a:p>
                <a:pPr algn="l"/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출구 문항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:</a:t>
                </a:r>
              </a:p>
              <a:p>
                <a:pPr algn="l"/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연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3%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복리 예금이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2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배가 되는 시간을 상용로그로 구하는 식을 쓰고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, 72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의 법칙의 값과 </a:t>
                </a:r>
                <a:r>
                  <a:rPr lang="ko-KR" altLang="en-US" sz="10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비슷한지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ko-KR" altLang="en-US" sz="10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판단하시오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.</a:t>
                </a:r>
              </a:p>
            </p:txBody>
          </p:sp>
          <p:sp>
            <p:nvSpPr>
              <p:cNvPr id="966" name="Google Shape;966;p50"/>
              <p:cNvSpPr/>
              <p:nvPr/>
            </p:nvSpPr>
            <p:spPr>
              <a:xfrm>
                <a:off x="2274652" y="4892040"/>
                <a:ext cx="1221900" cy="212700"/>
              </a:xfrm>
              <a:prstGeom prst="roundRect">
                <a:avLst>
                  <a:gd name="adj" fmla="val 50000"/>
                </a:avLst>
              </a:prstGeom>
              <a:solidFill>
                <a:srgbClr val="FF536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단계명(5분)</a:t>
                </a:r>
                <a:endParaRPr sz="10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967" name="Google Shape;967;p50"/>
          <p:cNvGrpSpPr/>
          <p:nvPr/>
        </p:nvGrpSpPr>
        <p:grpSpPr>
          <a:xfrm>
            <a:off x="6600852" y="1247490"/>
            <a:ext cx="2391710" cy="4738187"/>
            <a:chOff x="6554848" y="2366459"/>
            <a:chExt cx="2391710" cy="2950671"/>
          </a:xfrm>
        </p:grpSpPr>
        <p:sp>
          <p:nvSpPr>
            <p:cNvPr id="968" name="Google Shape;968;p50"/>
            <p:cNvSpPr/>
            <p:nvPr/>
          </p:nvSpPr>
          <p:spPr>
            <a:xfrm>
              <a:off x="6554958" y="4862030"/>
              <a:ext cx="2391600" cy="455100"/>
            </a:xfrm>
            <a:prstGeom prst="roundRect">
              <a:avLst>
                <a:gd name="adj" fmla="val 6381"/>
              </a:avLst>
            </a:prstGeom>
            <a:solidFill>
              <a:srgbClr val="FFF7DD"/>
            </a:solidFill>
            <a:ln w="12700" cap="flat" cmpd="sng">
              <a:solidFill>
                <a:srgbClr val="FFC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dirty="0">
                  <a:solidFill>
                    <a:schemeClr val="tx1"/>
                  </a:solidFill>
                </a:rPr>
                <a:t>도구</a:t>
              </a:r>
              <a:r>
                <a:rPr lang="en-US" altLang="ko-KR" sz="1000" dirty="0">
                  <a:solidFill>
                    <a:schemeClr val="tx1"/>
                  </a:solidFill>
                </a:rPr>
                <a:t>: Google Sheets, </a:t>
              </a:r>
              <a:r>
                <a:rPr lang="ko-KR" altLang="en-US" sz="1000" dirty="0">
                  <a:solidFill>
                    <a:schemeClr val="tx1"/>
                  </a:solidFill>
                </a:rPr>
                <a:t>학교 승인 생성형 </a:t>
              </a:r>
              <a:r>
                <a:rPr lang="en-US" altLang="ko-KR" sz="1000" dirty="0">
                  <a:solidFill>
                    <a:schemeClr val="tx1"/>
                  </a:solidFill>
                </a:rPr>
                <a:t>AI,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은행연합회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소비자포털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000" dirty="0">
                  <a:solidFill>
                    <a:schemeClr val="tx1"/>
                  </a:solidFill>
                </a:rPr>
                <a:t>역할</a:t>
              </a:r>
              <a:r>
                <a:rPr lang="en-US" altLang="ko-KR" sz="1000" dirty="0">
                  <a:solidFill>
                    <a:schemeClr val="tx1"/>
                  </a:solidFill>
                </a:rPr>
                <a:t>: AI</a:t>
              </a:r>
              <a:r>
                <a:rPr lang="ko-KR" altLang="en-US" sz="1000" dirty="0">
                  <a:solidFill>
                    <a:schemeClr val="tx1"/>
                  </a:solidFill>
                </a:rPr>
                <a:t>는 검증 대상 설명을 제공하고 판정 근거는 학생의 계산으로 한정함</a:t>
              </a:r>
              <a:endParaRPr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969" name="Google Shape;969;p50"/>
            <p:cNvGrpSpPr/>
            <p:nvPr/>
          </p:nvGrpSpPr>
          <p:grpSpPr>
            <a:xfrm>
              <a:off x="6554848" y="2366459"/>
              <a:ext cx="2391515" cy="2457249"/>
              <a:chOff x="2194117" y="4892040"/>
              <a:chExt cx="1381500" cy="2457249"/>
            </a:xfrm>
          </p:grpSpPr>
          <p:sp>
            <p:nvSpPr>
              <p:cNvPr id="952" name="Google Shape;952;p50"/>
              <p:cNvSpPr/>
              <p:nvPr/>
            </p:nvSpPr>
            <p:spPr>
              <a:xfrm>
                <a:off x="2194117" y="5023389"/>
                <a:ext cx="1381500" cy="2325900"/>
              </a:xfrm>
              <a:prstGeom prst="roundRect">
                <a:avLst>
                  <a:gd name="adj" fmla="val 2794"/>
                </a:avLst>
              </a:prstGeom>
              <a:solidFill>
                <a:schemeClr val="lt1"/>
              </a:solidFill>
              <a:ln w="19050" cap="flat" cmpd="sng">
                <a:solidFill>
                  <a:srgbClr val="FFC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algn="l"/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활동제목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: 72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의 법칙 발견과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 </a:t>
                </a:r>
                <a:r>
                  <a:rPr lang="ko-KR" altLang="en-US" sz="10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팩트체크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[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학습형태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: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모둠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/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전체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]</a:t>
                </a:r>
              </a:p>
              <a:p>
                <a:pPr algn="l"/>
                <a:endParaRPr lang="en-US" altLang="ko-KR" sz="1000" dirty="0">
                  <a:solidFill>
                    <a:schemeClr val="tx1"/>
                  </a:solidFill>
                  <a:latin typeface="-apple-system"/>
                </a:endParaRPr>
              </a:p>
              <a:p>
                <a:pPr algn="l"/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▪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교사 활동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금리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1~8%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의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2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배 시간으로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'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금리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×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시간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'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열을 채우는 </a:t>
                </a:r>
                <a:r>
                  <a:rPr lang="ko-KR" altLang="en-US" sz="10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탐구표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배부와 패턴 발견 발문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-apple-system"/>
                  </a:rPr>
                  <a:t> </a:t>
                </a:r>
              </a:p>
              <a:p>
                <a:pPr marL="171450" indent="-171450" algn="l">
                  <a:buFontTx/>
                  <a:buChar char="-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설명과 자기 계산의 일치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·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불일치를 찾도록 순회 지도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endParaRPr lang="en-US" altLang="ko-KR" sz="1000" dirty="0">
                  <a:solidFill>
                    <a:schemeClr val="tx1"/>
                  </a:solidFill>
                  <a:latin typeface="-apple-system"/>
                </a:endParaRPr>
              </a:p>
              <a:p>
                <a:pPr algn="l"/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▪ 학생 활동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000" b="0" i="0" dirty="0" err="1">
                    <a:solidFill>
                      <a:schemeClr val="tx1"/>
                    </a:solidFill>
                    <a:effectLst/>
                    <a:latin typeface="-apple-system"/>
                  </a:rPr>
                  <a:t>금리별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2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배 시간에서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'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금리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×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시간≈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72'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패턴을 발견해 법칙으로 진술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의 복리 설명 수치를 재계산과 대조해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'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사실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/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근사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/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과장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'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판정 기록</a:t>
                </a:r>
                <a:endParaRPr lang="en-US" altLang="ko-KR" sz="1000" dirty="0">
                  <a:solidFill>
                    <a:schemeClr val="tx1"/>
                  </a:solidFill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실제 공시 금리로 내 돈의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2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배 시간을 구해 광고 문구와 비교</a:t>
                </a:r>
                <a:endParaRPr lang="en-US" altLang="ko-KR" sz="1000" b="0" i="0" dirty="0">
                  <a:solidFill>
                    <a:schemeClr val="tx1"/>
                  </a:solidFill>
                  <a:effectLst/>
                  <a:latin typeface="-apple-system"/>
                </a:endParaRPr>
              </a:p>
              <a:p>
                <a:pPr marL="171450" indent="-171450" algn="l">
                  <a:buFontTx/>
                  <a:buChar char="-"/>
                </a:pPr>
                <a:endParaRPr lang="en-US" altLang="ko-KR" sz="1000" dirty="0">
                  <a:solidFill>
                    <a:schemeClr val="tx1"/>
                  </a:solidFill>
                  <a:latin typeface="-apple-system"/>
                </a:endParaRPr>
              </a:p>
              <a:p>
                <a:pPr algn="l"/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학생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AI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프롬프트 예시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:</a:t>
                </a:r>
              </a:p>
              <a:p>
                <a:pPr algn="l"/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연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4% 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복리로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100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만 원을 예금하면 몇 년 뒤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2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배가 되는지 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72</a:t>
                </a:r>
                <a:r>
                  <a:rPr lang="ko-KR" altLang="en-US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의 법칙으로 계산 과정과 함께 설명해 줘</a:t>
                </a:r>
                <a:r>
                  <a:rPr lang="en-US" altLang="ko-KR" sz="1000" b="0" i="0" dirty="0">
                    <a:solidFill>
                      <a:schemeClr val="tx1"/>
                    </a:solidFill>
                    <a:effectLst/>
                    <a:latin typeface="-apple-system"/>
                  </a:rPr>
                  <a:t>.</a:t>
                </a:r>
              </a:p>
            </p:txBody>
          </p:sp>
          <p:sp>
            <p:nvSpPr>
              <p:cNvPr id="970" name="Google Shape;970;p50"/>
              <p:cNvSpPr/>
              <p:nvPr/>
            </p:nvSpPr>
            <p:spPr>
              <a:xfrm>
                <a:off x="2274652" y="4892040"/>
                <a:ext cx="1221900" cy="171300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tx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전개2(25분)</a:t>
                </a:r>
                <a:endParaRPr sz="10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971" name="Google Shape;971;p50"/>
          <p:cNvGrpSpPr/>
          <p:nvPr/>
        </p:nvGrpSpPr>
        <p:grpSpPr>
          <a:xfrm>
            <a:off x="347851" y="3088910"/>
            <a:ext cx="328286" cy="474651"/>
            <a:chOff x="347851" y="4186705"/>
            <a:chExt cx="328286" cy="474651"/>
          </a:xfrm>
        </p:grpSpPr>
        <p:pic>
          <p:nvPicPr>
            <p:cNvPr id="972" name="Google Shape;972;p5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47851" y="4186705"/>
              <a:ext cx="328286" cy="328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3" name="Google Shape;973;p50"/>
            <p:cNvSpPr txBox="1"/>
            <p:nvPr/>
          </p:nvSpPr>
          <p:spPr>
            <a:xfrm>
              <a:off x="358105" y="4476556"/>
              <a:ext cx="307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모둠</a:t>
              </a:r>
              <a:endParaRPr sz="1200" b="1" i="0" u="none" strike="noStrike" cap="none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74" name="Google Shape;974;p50"/>
          <p:cNvGrpSpPr/>
          <p:nvPr/>
        </p:nvGrpSpPr>
        <p:grpSpPr>
          <a:xfrm>
            <a:off x="358108" y="4871011"/>
            <a:ext cx="307800" cy="413361"/>
            <a:chOff x="358105" y="5273056"/>
            <a:chExt cx="307800" cy="413361"/>
          </a:xfrm>
        </p:grpSpPr>
        <p:pic>
          <p:nvPicPr>
            <p:cNvPr id="975" name="Google Shape;975;p50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8968" y="5273056"/>
              <a:ext cx="222538" cy="2225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6" name="Google Shape;976;p50"/>
            <p:cNvSpPr txBox="1"/>
            <p:nvPr/>
          </p:nvSpPr>
          <p:spPr>
            <a:xfrm>
              <a:off x="358105" y="5501617"/>
              <a:ext cx="307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개별</a:t>
              </a:r>
              <a:endParaRPr sz="1200" b="1" i="0" u="none" strike="noStrike" cap="none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77" name="Google Shape;977;p50"/>
          <p:cNvGrpSpPr/>
          <p:nvPr/>
        </p:nvGrpSpPr>
        <p:grpSpPr>
          <a:xfrm>
            <a:off x="266600" y="1293262"/>
            <a:ext cx="467185" cy="480012"/>
            <a:chOff x="266600" y="3658959"/>
            <a:chExt cx="467185" cy="480012"/>
          </a:xfrm>
        </p:grpSpPr>
        <p:sp>
          <p:nvSpPr>
            <p:cNvPr id="978" name="Google Shape;978;p50"/>
            <p:cNvSpPr txBox="1"/>
            <p:nvPr/>
          </p:nvSpPr>
          <p:spPr>
            <a:xfrm>
              <a:off x="358108" y="3954171"/>
              <a:ext cx="307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 i="0" u="none" strike="noStrike" cap="none">
                  <a:solidFill>
                    <a:schemeClr val="tx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</a:t>
              </a:r>
              <a:endParaRPr>
                <a:solidFill>
                  <a:schemeClr val="tx1"/>
                </a:solidFill>
              </a:endParaRPr>
            </a:p>
          </p:txBody>
        </p:sp>
        <p:pic>
          <p:nvPicPr>
            <p:cNvPr id="979" name="Google Shape;979;p50"/>
            <p:cNvPicPr preferRelativeResize="0"/>
            <p:nvPr/>
          </p:nvPicPr>
          <p:blipFill rotWithShape="1">
            <a:blip r:embed="rId5">
              <a:alphaModFix/>
            </a:blip>
            <a:srcRect b="44561"/>
            <a:stretch/>
          </p:blipFill>
          <p:spPr>
            <a:xfrm>
              <a:off x="266600" y="3658959"/>
              <a:ext cx="467185" cy="258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0" name="Google Shape;980;p50"/>
          <p:cNvSpPr txBox="1"/>
          <p:nvPr/>
        </p:nvSpPr>
        <p:spPr>
          <a:xfrm>
            <a:off x="11575375" y="6442844"/>
            <a:ext cx="307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81" name="Google Shape;981;p50"/>
          <p:cNvSpPr/>
          <p:nvPr/>
        </p:nvSpPr>
        <p:spPr>
          <a:xfrm>
            <a:off x="83891" y="139131"/>
            <a:ext cx="1610700" cy="3033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sz="12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차시 </a:t>
            </a:r>
            <a:r>
              <a:rPr lang="ko-KR" sz="1200" b="1" dirty="0" err="1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교수·학습</a:t>
            </a:r>
            <a:r>
              <a:rPr lang="ko-KR" sz="1200" b="1" dirty="0">
                <a:solidFill>
                  <a:schemeClr val="tx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설계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4E00C-9C4E-4018-ABC9-E86B8513D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4135" y="2766218"/>
            <a:ext cx="5026494" cy="1325563"/>
          </a:xfrm>
        </p:spPr>
        <p:txBody>
          <a:bodyPr/>
          <a:lstStyle/>
          <a:p>
            <a:r>
              <a:rPr lang="ko-KR" altLang="en-US" dirty="0"/>
              <a:t>학생 접속 </a:t>
            </a:r>
            <a:r>
              <a:rPr lang="en-US" altLang="ko-KR" dirty="0"/>
              <a:t>QR</a:t>
            </a:r>
            <a:r>
              <a:rPr lang="ko-KR" altLang="en-US" dirty="0"/>
              <a:t>코드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DAF941-1BF7-4013-898B-3824930AE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2" y="371168"/>
            <a:ext cx="5932606" cy="597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86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1967</Words>
  <Application>Microsoft Office PowerPoint</Application>
  <PresentationFormat>와이드스크린</PresentationFormat>
  <Paragraphs>246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-apple-system</vt:lpstr>
      <vt:lpstr>Malgun Gothic</vt:lpstr>
      <vt:lpstr>Arial</vt:lpstr>
      <vt:lpstr>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학생 접속 QR코드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김정연</dc:creator>
  <cp:lastModifiedBy>연호 지</cp:lastModifiedBy>
  <cp:revision>21</cp:revision>
  <dcterms:modified xsi:type="dcterms:W3CDTF">2026-07-30T03:02:04Z</dcterms:modified>
</cp:coreProperties>
</file>